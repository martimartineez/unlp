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6797675" cy="98742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IPdHOEs5S2PA3b8OZGGh+zKr7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CCAEE-AF2E-4B60-A303-0F193476F389}" v="8" dt="2023-09-15T17:52:08.633"/>
  </p1510:revLst>
</p1510:revInfo>
</file>

<file path=ppt/tableStyles.xml><?xml version="1.0" encoding="utf-8"?>
<a:tblStyleLst xmlns:a="http://schemas.openxmlformats.org/drawingml/2006/main" def="{374BD2B4-C656-42CA-AF79-31C11DCC5942}">
  <a:tblStyle styleId="{374BD2B4-C656-42CA-AF79-31C11DCC594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ín Martínez" userId="35318963359c645b" providerId="Windows Live" clId="Web-{5EFCCAEE-AF2E-4B60-A303-0F193476F389}"/>
    <pc:docChg chg="modSld">
      <pc:chgData name="Martín Martínez" userId="35318963359c645b" providerId="Windows Live" clId="Web-{5EFCCAEE-AF2E-4B60-A303-0F193476F389}" dt="2023-09-15T17:52:08.633" v="7" actId="1076"/>
      <pc:docMkLst>
        <pc:docMk/>
      </pc:docMkLst>
      <pc:sldChg chg="modSp">
        <pc:chgData name="Martín Martínez" userId="35318963359c645b" providerId="Windows Live" clId="Web-{5EFCCAEE-AF2E-4B60-A303-0F193476F389}" dt="2023-09-15T17:52:08.633" v="7" actId="1076"/>
        <pc:sldMkLst>
          <pc:docMk/>
          <pc:sldMk cId="0" sldId="271"/>
        </pc:sldMkLst>
        <pc:spChg chg="mod">
          <ac:chgData name="Martín Martínez" userId="35318963359c645b" providerId="Windows Live" clId="Web-{5EFCCAEE-AF2E-4B60-A303-0F193476F389}" dt="2023-09-15T17:51:28.818" v="1" actId="1076"/>
          <ac:spMkLst>
            <pc:docMk/>
            <pc:sldMk cId="0" sldId="271"/>
            <ac:spMk id="3" creationId="{15C89BF3-1023-5BFE-A2D2-F21969600CBF}"/>
          </ac:spMkLst>
        </pc:spChg>
        <pc:spChg chg="mod">
          <ac:chgData name="Martín Martínez" userId="35318963359c645b" providerId="Windows Live" clId="Web-{5EFCCAEE-AF2E-4B60-A303-0F193476F389}" dt="2023-09-15T17:51:25.912" v="0" actId="1076"/>
          <ac:spMkLst>
            <pc:docMk/>
            <pc:sldMk cId="0" sldId="271"/>
            <ac:spMk id="5" creationId="{66E4E5AA-9B88-100C-1E37-1B9CA770FF82}"/>
          </ac:spMkLst>
        </pc:spChg>
        <pc:spChg chg="mod">
          <ac:chgData name="Martín Martínez" userId="35318963359c645b" providerId="Windows Live" clId="Web-{5EFCCAEE-AF2E-4B60-A303-0F193476F389}" dt="2023-09-15T17:51:34.740" v="2" actId="1076"/>
          <ac:spMkLst>
            <pc:docMk/>
            <pc:sldMk cId="0" sldId="271"/>
            <ac:spMk id="8" creationId="{06F07D15-D83B-0295-6C5E-32B8638B86E1}"/>
          </ac:spMkLst>
        </pc:spChg>
        <pc:spChg chg="mod">
          <ac:chgData name="Martín Martínez" userId="35318963359c645b" providerId="Windows Live" clId="Web-{5EFCCAEE-AF2E-4B60-A303-0F193476F389}" dt="2023-09-15T17:52:00.352" v="5" actId="1076"/>
          <ac:spMkLst>
            <pc:docMk/>
            <pc:sldMk cId="0" sldId="271"/>
            <ac:spMk id="11" creationId="{556B5E14-2FFB-A853-F972-22362FB57783}"/>
          </ac:spMkLst>
        </pc:spChg>
        <pc:spChg chg="mod">
          <ac:chgData name="Martín Martínez" userId="35318963359c645b" providerId="Windows Live" clId="Web-{5EFCCAEE-AF2E-4B60-A303-0F193476F389}" dt="2023-09-15T17:51:41.725" v="3" actId="1076"/>
          <ac:spMkLst>
            <pc:docMk/>
            <pc:sldMk cId="0" sldId="271"/>
            <ac:spMk id="12" creationId="{66FE2354-3E6F-765F-14F4-FE8C1F8BF48A}"/>
          </ac:spMkLst>
        </pc:spChg>
        <pc:spChg chg="mod">
          <ac:chgData name="Martín Martínez" userId="35318963359c645b" providerId="Windows Live" clId="Web-{5EFCCAEE-AF2E-4B60-A303-0F193476F389}" dt="2023-09-15T17:52:05.680" v="6" actId="1076"/>
          <ac:spMkLst>
            <pc:docMk/>
            <pc:sldMk cId="0" sldId="271"/>
            <ac:spMk id="13" creationId="{932F7FC0-CDEB-DDF9-5151-BF9EEE0138EB}"/>
          </ac:spMkLst>
        </pc:spChg>
        <pc:spChg chg="mod">
          <ac:chgData name="Martín Martínez" userId="35318963359c645b" providerId="Windows Live" clId="Web-{5EFCCAEE-AF2E-4B60-A303-0F193476F389}" dt="2023-09-15T17:52:08.633" v="7" actId="1076"/>
          <ac:spMkLst>
            <pc:docMk/>
            <pc:sldMk cId="0" sldId="271"/>
            <ac:spMk id="14" creationId="{7AE5F5A9-1BD4-7A56-B470-82EC90DA5D4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1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91" name="Google Shape;291;p1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Ingeniera de Software I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28" name="Google Shape;328;p5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p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 </a:t>
            </a:r>
            <a:endParaRPr/>
          </a:p>
        </p:txBody>
      </p:sp>
      <p:sp>
        <p:nvSpPr>
          <p:cNvPr id="330" name="Google Shape;330;p5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2011</a:t>
            </a:r>
            <a:endParaRPr/>
          </a:p>
        </p:txBody>
      </p:sp>
      <p:sp>
        <p:nvSpPr>
          <p:cNvPr id="331" name="Google Shape;331;p5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Facultad de Informatica UNLP</a:t>
            </a:r>
            <a:endParaRPr/>
          </a:p>
        </p:txBody>
      </p:sp>
      <p:sp>
        <p:nvSpPr>
          <p:cNvPr id="332" name="Google Shape;332;p5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43" name="Google Shape;343;p6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p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 </a:t>
            </a:r>
            <a:endParaRPr/>
          </a:p>
        </p:txBody>
      </p:sp>
      <p:sp>
        <p:nvSpPr>
          <p:cNvPr id="345" name="Google Shape;345;p6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2011</a:t>
            </a:r>
            <a:endParaRPr/>
          </a:p>
        </p:txBody>
      </p:sp>
      <p:sp>
        <p:nvSpPr>
          <p:cNvPr id="346" name="Google Shape;346;p6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Facultad de Informatica UNLP</a:t>
            </a:r>
            <a:endParaRPr/>
          </a:p>
        </p:txBody>
      </p:sp>
      <p:sp>
        <p:nvSpPr>
          <p:cNvPr id="347" name="Google Shape;347;p6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57" name="Google Shape;357;p7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p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 </a:t>
            </a:r>
            <a:endParaRPr/>
          </a:p>
        </p:txBody>
      </p:sp>
      <p:sp>
        <p:nvSpPr>
          <p:cNvPr id="359" name="Google Shape;359;p7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2011</a:t>
            </a:r>
            <a:endParaRPr/>
          </a:p>
        </p:txBody>
      </p:sp>
      <p:sp>
        <p:nvSpPr>
          <p:cNvPr id="360" name="Google Shape;360;p7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Facultad de Informatica UNLP</a:t>
            </a:r>
            <a:endParaRPr/>
          </a:p>
        </p:txBody>
      </p:sp>
      <p:sp>
        <p:nvSpPr>
          <p:cNvPr id="361" name="Google Shape;361;p7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1" name="Google Shape;371;p8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p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 </a:t>
            </a:r>
            <a:endParaRPr/>
          </a:p>
        </p:txBody>
      </p:sp>
      <p:sp>
        <p:nvSpPr>
          <p:cNvPr id="373" name="Google Shape;373;p8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2011</a:t>
            </a:r>
            <a:endParaRPr/>
          </a:p>
        </p:txBody>
      </p:sp>
      <p:sp>
        <p:nvSpPr>
          <p:cNvPr id="374" name="Google Shape;374;p8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Facultad de Informatica UNLP</a:t>
            </a:r>
            <a:endParaRPr/>
          </a:p>
        </p:txBody>
      </p:sp>
      <p:sp>
        <p:nvSpPr>
          <p:cNvPr id="375" name="Google Shape;375;p8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85" name="Google Shape;385;p9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p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 </a:t>
            </a:r>
            <a:endParaRPr/>
          </a:p>
        </p:txBody>
      </p:sp>
      <p:sp>
        <p:nvSpPr>
          <p:cNvPr id="387" name="Google Shape;387;p9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2011</a:t>
            </a:r>
            <a:endParaRPr/>
          </a:p>
        </p:txBody>
      </p:sp>
      <p:sp>
        <p:nvSpPr>
          <p:cNvPr id="388" name="Google Shape;388;p9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Facultad de Informatica UNLP</a:t>
            </a:r>
            <a:endParaRPr/>
          </a:p>
        </p:txBody>
      </p:sp>
      <p:sp>
        <p:nvSpPr>
          <p:cNvPr id="389" name="Google Shape;389;p9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8" name="Google Shape;398;p10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p1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 </a:t>
            </a:r>
            <a:endParaRPr/>
          </a:p>
        </p:txBody>
      </p:sp>
      <p:sp>
        <p:nvSpPr>
          <p:cNvPr id="400" name="Google Shape;400;p10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2011</a:t>
            </a:r>
            <a:endParaRPr/>
          </a:p>
        </p:txBody>
      </p:sp>
      <p:sp>
        <p:nvSpPr>
          <p:cNvPr id="401" name="Google Shape;401;p10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Facultad de Informatica UNLP</a:t>
            </a:r>
            <a:endParaRPr/>
          </a:p>
        </p:txBody>
      </p:sp>
      <p:sp>
        <p:nvSpPr>
          <p:cNvPr id="402" name="Google Shape;402;p10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13" name="Google Shape;413;p11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p1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 </a:t>
            </a:r>
            <a:endParaRPr/>
          </a:p>
        </p:txBody>
      </p:sp>
      <p:sp>
        <p:nvSpPr>
          <p:cNvPr id="415" name="Google Shape;415;p11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2011</a:t>
            </a:r>
            <a:endParaRPr/>
          </a:p>
        </p:txBody>
      </p:sp>
      <p:sp>
        <p:nvSpPr>
          <p:cNvPr id="416" name="Google Shape;416;p11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Facultad de Informatica UNLP</a:t>
            </a:r>
            <a:endParaRPr/>
          </a:p>
        </p:txBody>
      </p:sp>
      <p:sp>
        <p:nvSpPr>
          <p:cNvPr id="417" name="Google Shape;417;p11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27" name="Google Shape;427;p12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" name="Google Shape;428;p1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 </a:t>
            </a:r>
            <a:endParaRPr/>
          </a:p>
        </p:txBody>
      </p:sp>
      <p:sp>
        <p:nvSpPr>
          <p:cNvPr id="429" name="Google Shape;429;p12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2011</a:t>
            </a:r>
            <a:endParaRPr/>
          </a:p>
        </p:txBody>
      </p:sp>
      <p:sp>
        <p:nvSpPr>
          <p:cNvPr id="430" name="Google Shape;430;p12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Facultad de Informatica UNLP</a:t>
            </a:r>
            <a:endParaRPr/>
          </a:p>
        </p:txBody>
      </p:sp>
      <p:sp>
        <p:nvSpPr>
          <p:cNvPr id="431" name="Google Shape;431;p12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1" name="Google Shape;441;p1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2" name="Google Shape;442;p1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 </a:t>
            </a:r>
            <a:endParaRPr/>
          </a:p>
        </p:txBody>
      </p:sp>
      <p:sp>
        <p:nvSpPr>
          <p:cNvPr id="443" name="Google Shape;443;p13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2011</a:t>
            </a:r>
            <a:endParaRPr/>
          </a:p>
        </p:txBody>
      </p:sp>
      <p:sp>
        <p:nvSpPr>
          <p:cNvPr id="444" name="Google Shape;444;p13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Facultad de Informatica UNLP</a:t>
            </a:r>
            <a:endParaRPr/>
          </a:p>
        </p:txBody>
      </p:sp>
      <p:sp>
        <p:nvSpPr>
          <p:cNvPr id="445" name="Google Shape;445;p13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55" name="Google Shape;455;p14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6" name="Google Shape;456;p1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 </a:t>
            </a:r>
            <a:endParaRPr/>
          </a:p>
        </p:txBody>
      </p:sp>
      <p:sp>
        <p:nvSpPr>
          <p:cNvPr id="457" name="Google Shape;457;p14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2011</a:t>
            </a:r>
            <a:endParaRPr/>
          </a:p>
        </p:txBody>
      </p:sp>
      <p:sp>
        <p:nvSpPr>
          <p:cNvPr id="458" name="Google Shape;458;p14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Facultad de Informatica UNLP</a:t>
            </a:r>
            <a:endParaRPr/>
          </a:p>
        </p:txBody>
      </p:sp>
      <p:sp>
        <p:nvSpPr>
          <p:cNvPr id="459" name="Google Shape;459;p14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69" name="Google Shape;469;p15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0" name="Google Shape;470;p1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 </a:t>
            </a:r>
            <a:endParaRPr/>
          </a:p>
        </p:txBody>
      </p:sp>
      <p:sp>
        <p:nvSpPr>
          <p:cNvPr id="471" name="Google Shape;471;p15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2011</a:t>
            </a:r>
            <a:endParaRPr/>
          </a:p>
        </p:txBody>
      </p:sp>
      <p:sp>
        <p:nvSpPr>
          <p:cNvPr id="472" name="Google Shape;472;p15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Facultad de Informatica UNLP</a:t>
            </a:r>
            <a:endParaRPr/>
          </a:p>
        </p:txBody>
      </p:sp>
      <p:sp>
        <p:nvSpPr>
          <p:cNvPr id="473" name="Google Shape;473;p15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6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9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0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5" name="Google Shape;5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1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4" name="Google Shape;5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2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3" name="Google Shape;55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2" name="Google Shape;56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4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0" name="Google Shape;57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5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1" name="Google Shape;5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6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4" name="Google Shape;59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p27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6" name="Google Shape;606;p27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p28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6" name="Google Shape;616;p2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 </a:t>
            </a:r>
            <a:endParaRPr/>
          </a:p>
        </p:txBody>
      </p:sp>
      <p:sp>
        <p:nvSpPr>
          <p:cNvPr id="617" name="Google Shape;617;p28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2011</a:t>
            </a:r>
            <a:endParaRPr/>
          </a:p>
        </p:txBody>
      </p:sp>
      <p:sp>
        <p:nvSpPr>
          <p:cNvPr id="618" name="Google Shape;618;p28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Facultad de Informatica UNLP</a:t>
            </a:r>
            <a:endParaRPr/>
          </a:p>
        </p:txBody>
      </p:sp>
      <p:sp>
        <p:nvSpPr>
          <p:cNvPr id="619" name="Google Shape;619;p28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9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8" name="Google Shape;62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 1">
  <p:cSld name="Imagen con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138a1e40217_0_270"/>
          <p:cNvSpPr txBox="1">
            <a:spLocks noGrp="1"/>
          </p:cNvSpPr>
          <p:nvPr>
            <p:ph type="title"/>
          </p:nvPr>
        </p:nvSpPr>
        <p:spPr>
          <a:xfrm>
            <a:off x="653976" y="4737546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  <a:defRPr sz="3300" b="0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138a1e40217_0_270"/>
          <p:cNvSpPr txBox="1">
            <a:spLocks noGrp="1"/>
          </p:cNvSpPr>
          <p:nvPr>
            <p:ph type="body" idx="1"/>
          </p:nvPr>
        </p:nvSpPr>
        <p:spPr>
          <a:xfrm>
            <a:off x="653976" y="5487888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C00000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750"/>
              <a:buNone/>
              <a:defRPr sz="750"/>
            </a:lvl3pPr>
            <a:lvl4pPr marL="1828800" lvl="3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4pPr>
            <a:lvl5pPr marL="2286000" lvl="4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5pPr>
            <a:lvl6pPr marL="2743200" lvl="5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6pPr>
            <a:lvl7pPr marL="3200400" lvl="6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7pPr>
            <a:lvl8pPr marL="3657600" lvl="7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8pPr>
            <a:lvl9pPr marL="4114800" lvl="8" indent="-228600" algn="l">
              <a:lnSpc>
                <a:spcPct val="85000"/>
              </a:lnSpc>
              <a:spcBef>
                <a:spcPts val="450"/>
              </a:spcBef>
              <a:spcAft>
                <a:spcPts val="400"/>
              </a:spcAft>
              <a:buClr>
                <a:srgbClr val="262626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21" name="Google Shape;21;g138a1e40217_0_270"/>
          <p:cNvSpPr txBox="1">
            <a:spLocks noGrp="1"/>
          </p:cNvSpPr>
          <p:nvPr>
            <p:ph type="dt" idx="10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22" name="Google Shape;22;g138a1e40217_0_270"/>
          <p:cNvSpPr txBox="1">
            <a:spLocks noGrp="1"/>
          </p:cNvSpPr>
          <p:nvPr>
            <p:ph type="ftr" idx="11"/>
          </p:nvPr>
        </p:nvSpPr>
        <p:spPr>
          <a:xfrm>
            <a:off x="685800" y="6481100"/>
            <a:ext cx="22419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23" name="Google Shape;23;g138a1e40217_0_270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24" name="Google Shape;24;g138a1e40217_0_2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13" y="-5815"/>
            <a:ext cx="12192000" cy="451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g138a1e40217_0_2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13" y="-5815"/>
            <a:ext cx="12192000" cy="4514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138a1e40217_0_22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g138a1e40217_0_22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138a1e40217_0_22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7968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38a1e40217_0_22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400"/>
              <a:buNone/>
              <a:defRPr sz="239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None/>
              <a:defRPr sz="1394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g138a1e40217_0_22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32" name="Google Shape;32;g138a1e40217_0_22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33" name="Google Shape;33;g138a1e40217_0_22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34" name="Google Shape;34;g138a1e40217_0_22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38a1e40217_0_91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138a1e40217_0_91"/>
          <p:cNvSpPr txBox="1">
            <a:spLocks noGrp="1"/>
          </p:cNvSpPr>
          <p:nvPr>
            <p:ph type="body" idx="1"/>
          </p:nvPr>
        </p:nvSpPr>
        <p:spPr>
          <a:xfrm>
            <a:off x="527382" y="260648"/>
            <a:ext cx="10858500" cy="59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800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marL="1371600" lvl="2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marL="1828800" lvl="3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marL="2286000" lvl="4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marL="2743200" lvl="5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38" name="Google Shape;38;g138a1e40217_0_91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400"/>
              <a:buNone/>
              <a:defRPr sz="1394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2pPr>
            <a:lvl3pPr marL="1371600" lvl="2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3pPr>
            <a:lvl4pPr marL="1828800" lvl="3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4pPr>
            <a:lvl5pPr marL="2286000" lvl="4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5pPr>
            <a:lvl6pPr marL="2743200" lvl="5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39" name="Google Shape;39;g138a1e40217_0_91"/>
          <p:cNvSpPr txBox="1">
            <a:spLocks noGrp="1"/>
          </p:cNvSpPr>
          <p:nvPr>
            <p:ph type="ftr" idx="11"/>
          </p:nvPr>
        </p:nvSpPr>
        <p:spPr>
          <a:xfrm>
            <a:off x="6671735" y="630873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40" name="Google Shape;40;g138a1e40217_0_91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38a1e40217_0_16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g138a1e40217_0_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4" name="Google Shape;44;g138a1e40217_0_16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45" name="Google Shape;45;g138a1e40217_0_16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46" name="Google Shape;46;g138a1e40217_0_16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n con título">
  <p:cSld name="1_Imagen con título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38a1e40217_0_9"/>
          <p:cNvSpPr txBox="1">
            <a:spLocks noGrp="1"/>
          </p:cNvSpPr>
          <p:nvPr>
            <p:ph type="title"/>
          </p:nvPr>
        </p:nvSpPr>
        <p:spPr>
          <a:xfrm>
            <a:off x="653977" y="4737548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  <a:defRPr sz="3287" b="0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138a1e40217_0_9"/>
          <p:cNvSpPr txBox="1">
            <a:spLocks noGrp="1"/>
          </p:cNvSpPr>
          <p:nvPr>
            <p:ph type="body" idx="1"/>
          </p:nvPr>
        </p:nvSpPr>
        <p:spPr>
          <a:xfrm>
            <a:off x="653976" y="5487888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C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900"/>
              <a:buNone/>
              <a:defRPr sz="896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750"/>
              <a:buNone/>
              <a:defRPr sz="747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675"/>
              <a:buNone/>
              <a:defRPr sz="672"/>
            </a:lvl9pPr>
          </a:lstStyle>
          <a:p>
            <a:endParaRPr/>
          </a:p>
        </p:txBody>
      </p:sp>
      <p:sp>
        <p:nvSpPr>
          <p:cNvPr id="50" name="Google Shape;50;g138a1e40217_0_9"/>
          <p:cNvSpPr txBox="1">
            <a:spLocks noGrp="1"/>
          </p:cNvSpPr>
          <p:nvPr>
            <p:ph type="dt" idx="10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51" name="Google Shape;51;g138a1e40217_0_9"/>
          <p:cNvSpPr txBox="1">
            <a:spLocks noGrp="1"/>
          </p:cNvSpPr>
          <p:nvPr>
            <p:ph type="ftr" idx="11"/>
          </p:nvPr>
        </p:nvSpPr>
        <p:spPr>
          <a:xfrm>
            <a:off x="685800" y="6481102"/>
            <a:ext cx="22419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52" name="Google Shape;52;g138a1e40217_0_9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53" name="Google Shape;53;g138a1e40217_0_9" descr="2"/>
          <p:cNvPicPr preferRelativeResize="0"/>
          <p:nvPr/>
        </p:nvPicPr>
        <p:blipFill rotWithShape="1">
          <a:blip r:embed="rId2">
            <a:alphaModFix/>
          </a:blip>
          <a:srcRect l="8462"/>
          <a:stretch/>
        </p:blipFill>
        <p:spPr>
          <a:xfrm>
            <a:off x="23664" y="0"/>
            <a:ext cx="12144672" cy="4277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38a1e40217_0_31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138a1e40217_0_31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57" name="Google Shape;57;g138a1e40217_0_31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58" name="Google Shape;58;g138a1e40217_0_31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ormal con fuente ">
  <p:cSld name="1_Normal con fuente 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38a1e40217_0_36"/>
          <p:cNvSpPr txBox="1">
            <a:spLocks noGrp="1"/>
          </p:cNvSpPr>
          <p:nvPr>
            <p:ph type="title"/>
          </p:nvPr>
        </p:nvSpPr>
        <p:spPr>
          <a:xfrm>
            <a:off x="623394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138a1e40217_0_36"/>
          <p:cNvSpPr txBox="1">
            <a:spLocks noGrp="1"/>
          </p:cNvSpPr>
          <p:nvPr>
            <p:ph type="sldNum" idx="12"/>
          </p:nvPr>
        </p:nvSpPr>
        <p:spPr>
          <a:xfrm>
            <a:off x="9249399" y="285261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62" name="Google Shape;62;g138a1e40217_0_36"/>
          <p:cNvSpPr txBox="1">
            <a:spLocks noGrp="1"/>
          </p:cNvSpPr>
          <p:nvPr>
            <p:ph type="body" idx="1"/>
          </p:nvPr>
        </p:nvSpPr>
        <p:spPr>
          <a:xfrm>
            <a:off x="5951986" y="6509538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2" b="0" i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050"/>
              <a:buNone/>
              <a:defRPr sz="1046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3" name="Google Shape;63;g138a1e40217_0_36"/>
          <p:cNvSpPr txBox="1">
            <a:spLocks noGrp="1"/>
          </p:cNvSpPr>
          <p:nvPr>
            <p:ph type="body" idx="2"/>
          </p:nvPr>
        </p:nvSpPr>
        <p:spPr>
          <a:xfrm>
            <a:off x="623392" y="1902579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4" name="Google Shape;64;g138a1e40217_0_36"/>
          <p:cNvSpPr txBox="1">
            <a:spLocks noGrp="1"/>
          </p:cNvSpPr>
          <p:nvPr>
            <p:ph type="dt" idx="10"/>
          </p:nvPr>
        </p:nvSpPr>
        <p:spPr>
          <a:xfrm>
            <a:off x="2567609" y="6543223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65" name="Google Shape;65;g138a1e40217_0_36"/>
          <p:cNvSpPr txBox="1">
            <a:spLocks noGrp="1"/>
          </p:cNvSpPr>
          <p:nvPr>
            <p:ph type="ftr" idx="11"/>
          </p:nvPr>
        </p:nvSpPr>
        <p:spPr>
          <a:xfrm>
            <a:off x="168981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66" name="Google Shape;66;g138a1e40217_0_36"/>
          <p:cNvSpPr txBox="1"/>
          <p:nvPr/>
        </p:nvSpPr>
        <p:spPr>
          <a:xfrm>
            <a:off x="5176315" y="6484429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sz="822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g138a1e40217_0_36"/>
          <p:cNvCxnSpPr/>
          <p:nvPr/>
        </p:nvCxnSpPr>
        <p:spPr>
          <a:xfrm>
            <a:off x="623393" y="1772816"/>
            <a:ext cx="10772700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38a1e40217_0_45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138a1e40217_0_45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138a1e40217_0_4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7968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138a1e40217_0_45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400"/>
              <a:buNone/>
              <a:defRPr sz="239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400"/>
              <a:buNone/>
              <a:defRPr sz="2390"/>
            </a:lvl2pPr>
            <a:lvl3pPr lvl="2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400"/>
              <a:buNone/>
              <a:defRPr sz="2390"/>
            </a:lvl3pPr>
            <a:lvl4pPr lvl="3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4pPr>
            <a:lvl5pPr lvl="4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5pPr>
            <a:lvl6pPr lvl="5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6pPr>
            <a:lvl7pPr lvl="6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7pPr>
            <a:lvl8pPr lvl="7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8pPr>
            <a:lvl9pPr lvl="8" algn="ctr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2000"/>
              <a:buNone/>
              <a:defRPr sz="1992"/>
            </a:lvl9pPr>
          </a:lstStyle>
          <a:p>
            <a:endParaRPr/>
          </a:p>
        </p:txBody>
      </p:sp>
      <p:sp>
        <p:nvSpPr>
          <p:cNvPr id="73" name="Google Shape;73;g138a1e40217_0_45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74" name="Google Shape;74;g138a1e40217_0_45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75" name="Google Shape;75;g138a1e40217_0_45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76" name="Google Shape;76;g138a1e40217_0_45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 con fuente ">
  <p:cSld name="Normal con fuente 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8a1e40217_0_54"/>
          <p:cNvSpPr txBox="1">
            <a:spLocks noGrp="1"/>
          </p:cNvSpPr>
          <p:nvPr>
            <p:ph type="title"/>
          </p:nvPr>
        </p:nvSpPr>
        <p:spPr>
          <a:xfrm>
            <a:off x="645393" y="11663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138a1e40217_0_54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80" name="Google Shape;80;g138a1e40217_0_54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sz="822" b="0" i="0" u="none" strike="noStrike" cap="none">
              <a:solidFill>
                <a:srgbClr val="E4E9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138a1e40217_0_54"/>
          <p:cNvSpPr txBox="1">
            <a:spLocks noGrp="1"/>
          </p:cNvSpPr>
          <p:nvPr>
            <p:ph type="body" idx="1"/>
          </p:nvPr>
        </p:nvSpPr>
        <p:spPr>
          <a:xfrm>
            <a:off x="788830" y="2924945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2" name="Google Shape;82;g138a1e40217_0_54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83" name="Google Shape;83;g138a1e40217_0_54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84" name="Google Shape;84;g138a1e40217_0_54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sz="822" b="0" i="0" u="none" strike="noStrike" cap="none">
              <a:solidFill>
                <a:srgbClr val="E4E9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ormal con fuente ">
  <p:cSld name="2_Normal con fuente 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38a1e40217_0_62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g138a1e40217_0_6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88" name="Google Shape;88;g138a1e40217_0_6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138a1e40217_0_62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800"/>
              <a:buChar char=" "/>
              <a:defRPr/>
            </a:lvl2pPr>
            <a:lvl3pPr marL="1371600" lvl="2" indent="-32385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500"/>
              <a:buChar char=" "/>
              <a:defRPr/>
            </a:lvl3pPr>
            <a:lvl4pPr marL="1828800" lvl="3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4pPr>
            <a:lvl5pPr marL="2286000" lvl="4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5pPr>
            <a:lvl6pPr marL="2743200" lvl="5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6pPr>
            <a:lvl7pPr marL="3200400" lvl="6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7pPr>
            <a:lvl8pPr marL="3657600" lvl="7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8pPr>
            <a:lvl9pPr marL="4114800" lvl="8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9pPr>
          </a:lstStyle>
          <a:p>
            <a:endParaRPr/>
          </a:p>
        </p:txBody>
      </p:sp>
      <p:cxnSp>
        <p:nvCxnSpPr>
          <p:cNvPr id="90" name="Google Shape;90;g138a1e40217_0_6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g138a1e40217_0_62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92" name="Google Shape;92;g138a1e40217_0_6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93" name="Google Shape;93;g138a1e40217_0_6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g138a1e40217_0_6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Normal con fuente ">
  <p:cSld name="2_Normal con fuente  2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8a1e40217_0_72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g138a1e40217_0_7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8" name="Google Shape;98;g138a1e40217_0_7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138a1e40217_0_72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800"/>
              <a:buChar char=" "/>
              <a:defRPr/>
            </a:lvl2pPr>
            <a:lvl3pPr marL="1371600" lvl="2" indent="-32385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500"/>
              <a:buChar char=" "/>
              <a:defRPr/>
            </a:lvl3pPr>
            <a:lvl4pPr marL="1828800" lvl="3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4pPr>
            <a:lvl5pPr marL="2286000" lvl="4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5pPr>
            <a:lvl6pPr marL="2743200" lvl="5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6pPr>
            <a:lvl7pPr marL="3200400" lvl="6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7pPr>
            <a:lvl8pPr marL="3657600" lvl="7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8pPr>
            <a:lvl9pPr marL="4114800" lvl="8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9pPr>
          </a:lstStyle>
          <a:p>
            <a:endParaRPr/>
          </a:p>
        </p:txBody>
      </p:sp>
      <p:cxnSp>
        <p:nvCxnSpPr>
          <p:cNvPr id="100" name="Google Shape;100;g138a1e40217_0_7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g138a1e40217_0_72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02" name="Google Shape;102;g138a1e40217_0_7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03" name="Google Shape;103;g138a1e40217_0_7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g138a1e40217_0_7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>
  <p:cSld name="Dos objet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a1e40217_0_82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138a1e40217_0_82"/>
          <p:cNvSpPr txBox="1">
            <a:spLocks noGrp="1"/>
          </p:cNvSpPr>
          <p:nvPr>
            <p:ph type="body" idx="1"/>
          </p:nvPr>
        </p:nvSpPr>
        <p:spPr>
          <a:xfrm>
            <a:off x="676656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4400" lvl="1" indent="-32385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71600" lvl="2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8800" lvl="3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86000" lvl="4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43200" lvl="5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6pPr>
            <a:lvl7pPr marL="3200400" lvl="6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7pPr>
            <a:lvl8pPr marL="3657600" lvl="7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8pPr>
            <a:lvl9pPr marL="4114800" lvl="8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9pPr>
          </a:lstStyle>
          <a:p>
            <a:endParaRPr/>
          </a:p>
        </p:txBody>
      </p:sp>
      <p:sp>
        <p:nvSpPr>
          <p:cNvPr id="108" name="Google Shape;108;g138a1e40217_0_82"/>
          <p:cNvSpPr txBox="1">
            <a:spLocks noGrp="1"/>
          </p:cNvSpPr>
          <p:nvPr>
            <p:ph type="body" idx="2"/>
          </p:nvPr>
        </p:nvSpPr>
        <p:spPr>
          <a:xfrm>
            <a:off x="6011331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4400" lvl="1" indent="-32385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71600" lvl="2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8800" lvl="3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86000" lvl="4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43200" lvl="5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6pPr>
            <a:lvl7pPr marL="3200400" lvl="6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7pPr>
            <a:lvl8pPr marL="3657600" lvl="7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8pPr>
            <a:lvl9pPr marL="4114800" lvl="8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9pPr>
          </a:lstStyle>
          <a:p>
            <a:endParaRPr/>
          </a:p>
        </p:txBody>
      </p:sp>
      <p:sp>
        <p:nvSpPr>
          <p:cNvPr id="109" name="Google Shape;109;g138a1e40217_0_8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10" name="Google Shape;110;g138a1e40217_0_8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E4E9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a1e40217_0_82"/>
          <p:cNvSpPr txBox="1">
            <a:spLocks noGrp="1"/>
          </p:cNvSpPr>
          <p:nvPr>
            <p:ph type="body" idx="3"/>
          </p:nvPr>
        </p:nvSpPr>
        <p:spPr>
          <a:xfrm>
            <a:off x="5951986" y="650954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2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2pPr>
            <a:lvl3pPr marL="1371600" lvl="2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3pPr>
            <a:lvl4pPr marL="1828800" lvl="3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4pPr>
            <a:lvl5pPr marL="2286000" lvl="4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5pPr>
            <a:lvl6pPr marL="2743200" lvl="5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12" name="Google Shape;112;g138a1e40217_0_82"/>
          <p:cNvSpPr txBox="1">
            <a:spLocks noGrp="1"/>
          </p:cNvSpPr>
          <p:nvPr>
            <p:ph type="dt" idx="10"/>
          </p:nvPr>
        </p:nvSpPr>
        <p:spPr>
          <a:xfrm>
            <a:off x="2898949" y="6511630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13" name="Google Shape;113;g138a1e40217_0_8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seño personalizado">
  <p:cSld name="4_Diseño personalizado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8a1e40217_0_97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138a1e40217_0_97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17" name="Google Shape;117;g138a1e40217_0_97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18" name="Google Shape;118;g138a1e40217_0_97"/>
          <p:cNvSpPr txBox="1">
            <a:spLocks noGrp="1"/>
          </p:cNvSpPr>
          <p:nvPr>
            <p:ph type="ftr" idx="11"/>
          </p:nvPr>
        </p:nvSpPr>
        <p:spPr>
          <a:xfrm>
            <a:off x="168981" y="6554699"/>
            <a:ext cx="33348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a1e40217_0_102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138a1e40217_0_102"/>
          <p:cNvSpPr txBox="1">
            <a:spLocks noGrp="1"/>
          </p:cNvSpPr>
          <p:nvPr>
            <p:ph type="body" idx="1"/>
          </p:nvPr>
        </p:nvSpPr>
        <p:spPr>
          <a:xfrm>
            <a:off x="1097278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22" name="Google Shape;122;g138a1e40217_0_102"/>
          <p:cNvSpPr txBox="1">
            <a:spLocks noGrp="1"/>
          </p:cNvSpPr>
          <p:nvPr>
            <p:ph type="body" idx="2"/>
          </p:nvPr>
        </p:nvSpPr>
        <p:spPr>
          <a:xfrm>
            <a:off x="6217921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23" name="Google Shape;123;g138a1e40217_0_102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24" name="Google Shape;124;g138a1e40217_0_102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25" name="Google Shape;125;g138a1e40217_0_102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38a1e40217_0_109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138a1e40217_0_10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  <a:defRPr sz="1992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000"/>
              <a:buNone/>
              <a:defRPr sz="1992" b="1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None/>
              <a:defRPr sz="1793" b="1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600"/>
              <a:buNone/>
              <a:defRPr sz="1594" b="1"/>
            </a:lvl9pPr>
          </a:lstStyle>
          <a:p>
            <a:endParaRPr/>
          </a:p>
        </p:txBody>
      </p:sp>
      <p:sp>
        <p:nvSpPr>
          <p:cNvPr id="129" name="Google Shape;129;g138a1e40217_0_10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30" name="Google Shape;130;g138a1e40217_0_109"/>
          <p:cNvSpPr txBox="1">
            <a:spLocks noGrp="1"/>
          </p:cNvSpPr>
          <p:nvPr>
            <p:ph type="body" idx="3"/>
          </p:nvPr>
        </p:nvSpPr>
        <p:spPr>
          <a:xfrm>
            <a:off x="6217921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  <a:defRPr sz="1992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000"/>
              <a:buNone/>
              <a:defRPr sz="1992" b="1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None/>
              <a:defRPr sz="1793" b="1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600"/>
              <a:buNone/>
              <a:defRPr sz="1594" b="1"/>
            </a:lvl9pPr>
          </a:lstStyle>
          <a:p>
            <a:endParaRPr/>
          </a:p>
        </p:txBody>
      </p:sp>
      <p:sp>
        <p:nvSpPr>
          <p:cNvPr id="131" name="Google Shape;131;g138a1e40217_0_109"/>
          <p:cNvSpPr txBox="1">
            <a:spLocks noGrp="1"/>
          </p:cNvSpPr>
          <p:nvPr>
            <p:ph type="body" idx="4"/>
          </p:nvPr>
        </p:nvSpPr>
        <p:spPr>
          <a:xfrm>
            <a:off x="6217921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32" name="Google Shape;132;g138a1e40217_0_109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33" name="Google Shape;133;g138a1e40217_0_109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34" name="Google Shape;134;g138a1e40217_0_109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38a1e40217_0_118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138a1e40217_0_118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138a1e40217_0_118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39" name="Google Shape;139;g138a1e40217_0_118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40" name="Google Shape;140;g138a1e40217_0_118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8a1e40217_0_124"/>
          <p:cNvSpPr/>
          <p:nvPr/>
        </p:nvSpPr>
        <p:spPr>
          <a:xfrm>
            <a:off x="17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138a1e40217_0_124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138a1e40217_0_124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586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138a1e40217_0_124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46" name="Google Shape;146;g138a1e40217_0_124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500"/>
              <a:buNone/>
              <a:defRPr sz="1494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200"/>
              <a:buNone/>
              <a:defRPr sz="1195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00"/>
              <a:buNone/>
              <a:defRPr sz="996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900"/>
              <a:buNone/>
              <a:defRPr sz="896"/>
            </a:lvl9pPr>
          </a:lstStyle>
          <a:p>
            <a:endParaRPr/>
          </a:p>
        </p:txBody>
      </p:sp>
      <p:sp>
        <p:nvSpPr>
          <p:cNvPr id="147" name="Google Shape;147;g138a1e40217_0_124"/>
          <p:cNvSpPr txBox="1">
            <a:spLocks noGrp="1"/>
          </p:cNvSpPr>
          <p:nvPr>
            <p:ph type="dt" idx="10"/>
          </p:nvPr>
        </p:nvSpPr>
        <p:spPr>
          <a:xfrm>
            <a:off x="465512" y="6459787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48" name="Google Shape;148;g138a1e40217_0_124"/>
          <p:cNvSpPr txBox="1">
            <a:spLocks noGrp="1"/>
          </p:cNvSpPr>
          <p:nvPr>
            <p:ph type="ftr" idx="11"/>
          </p:nvPr>
        </p:nvSpPr>
        <p:spPr>
          <a:xfrm>
            <a:off x="4800600" y="6459787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49" name="Google Shape;149;g138a1e40217_0_124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8a1e40217_0_133"/>
          <p:cNvSpPr/>
          <p:nvPr/>
        </p:nvSpPr>
        <p:spPr>
          <a:xfrm>
            <a:off x="1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138a1e40217_0_133"/>
          <p:cNvSpPr/>
          <p:nvPr/>
        </p:nvSpPr>
        <p:spPr>
          <a:xfrm>
            <a:off x="16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138a1e40217_0_133"/>
          <p:cNvSpPr txBox="1">
            <a:spLocks noGrp="1"/>
          </p:cNvSpPr>
          <p:nvPr>
            <p:ph type="title"/>
          </p:nvPr>
        </p:nvSpPr>
        <p:spPr>
          <a:xfrm>
            <a:off x="1097281" y="5074920"/>
            <a:ext cx="10113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586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138a1e40217_0_133"/>
          <p:cNvSpPr>
            <a:spLocks noGrp="1"/>
          </p:cNvSpPr>
          <p:nvPr>
            <p:ph type="pic" idx="2"/>
          </p:nvPr>
        </p:nvSpPr>
        <p:spPr>
          <a:xfrm>
            <a:off x="16" y="0"/>
            <a:ext cx="12192000" cy="4915200"/>
          </a:xfrm>
          <a:prstGeom prst="rect">
            <a:avLst/>
          </a:prstGeom>
          <a:solidFill>
            <a:srgbClr val="C6D1DD"/>
          </a:solidFill>
          <a:ln>
            <a:noFill/>
          </a:ln>
        </p:spPr>
      </p:sp>
      <p:sp>
        <p:nvSpPr>
          <p:cNvPr id="155" name="Google Shape;155;g138a1e40217_0_133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94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98"/>
              </a:spcBef>
              <a:spcAft>
                <a:spcPts val="0"/>
              </a:spcAft>
              <a:buSzPts val="1200"/>
              <a:buNone/>
              <a:defRPr sz="1195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00"/>
              <a:buNone/>
              <a:defRPr sz="996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900"/>
              <a:buNone/>
              <a:defRPr sz="896"/>
            </a:lvl9pPr>
          </a:lstStyle>
          <a:p>
            <a:endParaRPr/>
          </a:p>
        </p:txBody>
      </p:sp>
      <p:sp>
        <p:nvSpPr>
          <p:cNvPr id="156" name="Google Shape;156;g138a1e40217_0_133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57" name="Google Shape;157;g138a1e40217_0_133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58" name="Google Shape;158;g138a1e40217_0_133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8a1e40217_0_142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g138a1e40217_0_142"/>
          <p:cNvSpPr txBox="1">
            <a:spLocks noGrp="1"/>
          </p:cNvSpPr>
          <p:nvPr>
            <p:ph type="body" idx="1"/>
          </p:nvPr>
        </p:nvSpPr>
        <p:spPr>
          <a:xfrm rot="5400000">
            <a:off x="4114829" y="-1171815"/>
            <a:ext cx="402330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62" name="Google Shape;162;g138a1e40217_0_142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63" name="Google Shape;163;g138a1e40217_0_142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64" name="Google Shape;164;g138a1e40217_0_142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38a1e40217_0_148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138a1e40217_0_148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138a1e40217_0_148"/>
          <p:cNvSpPr txBox="1">
            <a:spLocks noGrp="1"/>
          </p:cNvSpPr>
          <p:nvPr>
            <p:ph type="title"/>
          </p:nvPr>
        </p:nvSpPr>
        <p:spPr>
          <a:xfrm rot="5400000">
            <a:off x="7159350" y="1977852"/>
            <a:ext cx="57600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g138a1e40217_0_148"/>
          <p:cNvSpPr txBox="1">
            <a:spLocks noGrp="1"/>
          </p:cNvSpPr>
          <p:nvPr>
            <p:ph type="body" idx="1"/>
          </p:nvPr>
        </p:nvSpPr>
        <p:spPr>
          <a:xfrm rot="5400000">
            <a:off x="1825351" y="-574847"/>
            <a:ext cx="57600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70" name="Google Shape;170;g138a1e40217_0_148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71" name="Google Shape;171;g138a1e40217_0_148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72" name="Google Shape;172;g138a1e40217_0_148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on ">
  <p:cSld name="Encabezado de Seccion 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38a1e40217_0_156"/>
          <p:cNvSpPr txBox="1">
            <a:spLocks noGrp="1"/>
          </p:cNvSpPr>
          <p:nvPr>
            <p:ph type="title"/>
          </p:nvPr>
        </p:nvSpPr>
        <p:spPr>
          <a:xfrm>
            <a:off x="551384" y="2051019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  <a:defRPr sz="5378" b="0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g138a1e40217_0_156"/>
          <p:cNvSpPr txBox="1">
            <a:spLocks noGrp="1"/>
          </p:cNvSpPr>
          <p:nvPr>
            <p:ph type="body" idx="1"/>
          </p:nvPr>
        </p:nvSpPr>
        <p:spPr>
          <a:xfrm>
            <a:off x="551384" y="4359587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C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900"/>
              <a:buNone/>
              <a:defRPr sz="896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750"/>
              <a:buNone/>
              <a:defRPr sz="747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675"/>
              <a:buNone/>
              <a:defRPr sz="672"/>
            </a:lvl9pPr>
          </a:lstStyle>
          <a:p>
            <a:endParaRPr/>
          </a:p>
        </p:txBody>
      </p:sp>
      <p:sp>
        <p:nvSpPr>
          <p:cNvPr id="176" name="Google Shape;176;g138a1e40217_0_156"/>
          <p:cNvSpPr txBox="1">
            <a:spLocks noGrp="1"/>
          </p:cNvSpPr>
          <p:nvPr>
            <p:ph type="dt" idx="10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77" name="Google Shape;177;g138a1e40217_0_156"/>
          <p:cNvSpPr txBox="1">
            <a:spLocks noGrp="1"/>
          </p:cNvSpPr>
          <p:nvPr>
            <p:ph type="ftr" idx="11"/>
          </p:nvPr>
        </p:nvSpPr>
        <p:spPr>
          <a:xfrm>
            <a:off x="685800" y="6481102"/>
            <a:ext cx="28179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78" name="Google Shape;178;g138a1e40217_0_156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os objetos">
  <p:cSld name="1_Dos objetos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8a1e40217_0_162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g138a1e40217_0_162"/>
          <p:cNvSpPr txBox="1">
            <a:spLocks noGrp="1"/>
          </p:cNvSpPr>
          <p:nvPr>
            <p:ph type="body" idx="1"/>
          </p:nvPr>
        </p:nvSpPr>
        <p:spPr>
          <a:xfrm>
            <a:off x="676656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4400" lvl="1" indent="-32385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71600" lvl="2" indent="-314325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8800" lvl="3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86000" lvl="4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43200" lvl="5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6pPr>
            <a:lvl7pPr marL="3200400" lvl="6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7pPr>
            <a:lvl8pPr marL="3657600" lvl="7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8pPr>
            <a:lvl9pPr marL="4114800" lvl="8" indent="-30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200"/>
              <a:buChar char="◦"/>
              <a:defRPr sz="1195"/>
            </a:lvl9pPr>
          </a:lstStyle>
          <a:p>
            <a:endParaRPr/>
          </a:p>
        </p:txBody>
      </p:sp>
      <p:sp>
        <p:nvSpPr>
          <p:cNvPr id="182" name="Google Shape;182;g138a1e40217_0_162"/>
          <p:cNvSpPr txBox="1">
            <a:spLocks noGrp="1"/>
          </p:cNvSpPr>
          <p:nvPr>
            <p:ph type="body" idx="2"/>
          </p:nvPr>
        </p:nvSpPr>
        <p:spPr>
          <a:xfrm>
            <a:off x="6011331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4400" lvl="1" indent="-32385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71600" lvl="2" indent="-314325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8800" lvl="3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86000" lvl="4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43200" lvl="5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6pPr>
            <a:lvl7pPr marL="3200400" lvl="6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7pPr>
            <a:lvl8pPr marL="3657600" lvl="7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8pPr>
            <a:lvl9pPr marL="4114800" lvl="8" indent="-30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200"/>
              <a:buChar char="◦"/>
              <a:defRPr sz="1195"/>
            </a:lvl9pPr>
          </a:lstStyle>
          <a:p>
            <a:endParaRPr/>
          </a:p>
        </p:txBody>
      </p:sp>
      <p:sp>
        <p:nvSpPr>
          <p:cNvPr id="183" name="Google Shape;183;g138a1e40217_0_16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84" name="Google Shape;184;g138a1e40217_0_162"/>
          <p:cNvSpPr txBox="1">
            <a:spLocks noGrp="1"/>
          </p:cNvSpPr>
          <p:nvPr>
            <p:ph type="body" idx="3"/>
          </p:nvPr>
        </p:nvSpPr>
        <p:spPr>
          <a:xfrm>
            <a:off x="5951986" y="650954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2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050"/>
              <a:buNone/>
              <a:defRPr sz="1046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85" name="Google Shape;185;g138a1e40217_0_162"/>
          <p:cNvSpPr txBox="1">
            <a:spLocks noGrp="1"/>
          </p:cNvSpPr>
          <p:nvPr>
            <p:ph type="dt" idx="10"/>
          </p:nvPr>
        </p:nvSpPr>
        <p:spPr>
          <a:xfrm>
            <a:off x="2898949" y="6511630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86" name="Google Shape;186;g138a1e40217_0_16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Normal con fuente ">
  <p:cSld name="3_Normal con fuente "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38a1e40217_0_17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g138a1e40217_0_17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90" name="Google Shape;190;g138a1e40217_0_17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138a1e40217_0_17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cxnSp>
        <p:nvCxnSpPr>
          <p:cNvPr id="192" name="Google Shape;192;g138a1e40217_0_17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g138a1e40217_0_17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94" name="Google Shape;194;g138a1e40217_0_17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95" name="Google Shape;195;g138a1e40217_0_17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g138a1e40217_0_17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Normal con fuente ">
  <p:cSld name="3_Normal con fuente  2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38a1e40217_0_18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g138a1e40217_0_18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00" name="Google Shape;200;g138a1e40217_0_18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138a1e40217_0_18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cxnSp>
        <p:nvCxnSpPr>
          <p:cNvPr id="202" name="Google Shape;202;g138a1e40217_0_18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3" name="Google Shape;203;g138a1e40217_0_18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204" name="Google Shape;204;g138a1e40217_0_18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205" name="Google Shape;205;g138a1e40217_0_18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g138a1e40217_0_18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Normal con fuente ">
  <p:cSld name="4_Normal con fuente 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38a1e40217_0_19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g138a1e40217_0_19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10" name="Google Shape;210;g138a1e40217_0_19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138a1e40217_0_19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cxnSp>
        <p:nvCxnSpPr>
          <p:cNvPr id="212" name="Google Shape;212;g138a1e40217_0_19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g138a1e40217_0_19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214" name="Google Shape;214;g138a1e40217_0_19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215" name="Google Shape;215;g138a1e40217_0_19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g138a1e40217_0_19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Normal con fuente ">
  <p:cSld name="5_Normal con fuente ">
    <p:bg>
      <p:bgPr>
        <a:solidFill>
          <a:schemeClr val="lt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38a1e40217_0_20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g138a1e40217_0_20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20" name="Google Shape;220;g138a1e40217_0_20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138a1e40217_0_20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cxnSp>
        <p:nvCxnSpPr>
          <p:cNvPr id="222" name="Google Shape;222;g138a1e40217_0_20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3" name="Google Shape;223;g138a1e40217_0_20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224" name="Google Shape;224;g138a1e40217_0_20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225" name="Google Shape;225;g138a1e40217_0_20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g138a1e40217_0_20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Normal con fuente ">
  <p:cSld name="6_Normal con fuente ">
    <p:bg>
      <p:bgPr>
        <a:solidFill>
          <a:schemeClr val="lt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38a1e40217_0_21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g138a1e40217_0_21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30" name="Google Shape;230;g138a1e40217_0_21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138a1e40217_0_21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cxnSp>
        <p:nvCxnSpPr>
          <p:cNvPr id="232" name="Google Shape;232;g138a1e40217_0_21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g138a1e40217_0_21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234" name="Google Shape;234;g138a1e40217_0_21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235" name="Google Shape;235;g138a1e40217_0_21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g138a1e40217_0_21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Normal con fuente ">
  <p:cSld name="7_Normal con fuente ">
    <p:bg>
      <p:bgPr>
        <a:solidFill>
          <a:schemeClr val="lt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8a1e40217_0_22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g138a1e40217_0_22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40" name="Google Shape;240;g138a1e40217_0_22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138a1e40217_0_22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cxnSp>
        <p:nvCxnSpPr>
          <p:cNvPr id="242" name="Google Shape;242;g138a1e40217_0_22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3" name="Google Shape;243;g138a1e40217_0_22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244" name="Google Shape;244;g138a1e40217_0_22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245" name="Google Shape;245;g138a1e40217_0_22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g138a1e40217_0_22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Normal con fuente ">
  <p:cSld name="9_Normal con fuente ">
    <p:bg>
      <p:bgPr>
        <a:solidFill>
          <a:schemeClr val="lt1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38a1e40217_0_23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g138a1e40217_0_23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50" name="Google Shape;250;g138a1e40217_0_23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138a1e40217_0_23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cxnSp>
        <p:nvCxnSpPr>
          <p:cNvPr id="252" name="Google Shape;252;g138a1e40217_0_23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3" name="Google Shape;253;g138a1e40217_0_23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254" name="Google Shape;254;g138a1e40217_0_23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255" name="Google Shape;255;g138a1e40217_0_23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g138a1e40217_0_23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Normal con fuente ">
  <p:cSld name="10_Normal con fuente ">
    <p:bg>
      <p:bgPr>
        <a:solidFill>
          <a:schemeClr val="l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38a1e40217_0_24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g138a1e40217_0_24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60" name="Google Shape;260;g138a1e40217_0_24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138a1e40217_0_24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cxnSp>
        <p:nvCxnSpPr>
          <p:cNvPr id="262" name="Google Shape;262;g138a1e40217_0_24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3" name="Google Shape;263;g138a1e40217_0_24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264" name="Google Shape;264;g138a1e40217_0_24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265" name="Google Shape;265;g138a1e40217_0_24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g138a1e40217_0_24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Normal con fuente ">
  <p:cSld name="11_Normal con fuente ">
    <p:bg>
      <p:bgPr>
        <a:solidFill>
          <a:schemeClr val="lt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38a1e40217_0_25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g138a1e40217_0_25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70" name="Google Shape;270;g138a1e40217_0_25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138a1e40217_0_25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cxnSp>
        <p:nvCxnSpPr>
          <p:cNvPr id="272" name="Google Shape;272;g138a1e40217_0_25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g138a1e40217_0_25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274" name="Google Shape;274;g138a1e40217_0_25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275" name="Google Shape;275;g138a1e40217_0_25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g138a1e40217_0_25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Normal con fuente ">
  <p:cSld name="15_Normal con fuente ">
    <p:bg>
      <p:bgPr>
        <a:solidFill>
          <a:schemeClr val="lt1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38a1e40217_0_26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g138a1e40217_0_26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80" name="Google Shape;280;g138a1e40217_0_26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138a1e40217_0_26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cxnSp>
        <p:nvCxnSpPr>
          <p:cNvPr id="282" name="Google Shape;282;g138a1e40217_0_26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3" name="Google Shape;283;g138a1e40217_0_26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284" name="Google Shape;284;g138a1e40217_0_26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285" name="Google Shape;285;g138a1e40217_0_26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g138a1e40217_0_26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38a1e40217_0_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g138a1e40217_0_0"/>
          <p:cNvSpPr/>
          <p:nvPr/>
        </p:nvSpPr>
        <p:spPr>
          <a:xfrm>
            <a:off x="16" y="6334316"/>
            <a:ext cx="12192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g138a1e40217_0_0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g138a1e40217_0_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g138a1e40217_0_0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9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AR"/>
              <a:t>2023</a:t>
            </a:r>
            <a:endParaRPr/>
          </a:p>
        </p:txBody>
      </p:sp>
      <p:sp>
        <p:nvSpPr>
          <p:cNvPr id="15" name="Google Shape;15;g138a1e40217_0_0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9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6" name="Google Shape;16;g138a1e40217_0_0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17" name="Google Shape;17;g138a1e40217_0_0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"/>
          <p:cNvSpPr txBox="1">
            <a:spLocks noGrp="1"/>
          </p:cNvSpPr>
          <p:nvPr>
            <p:ph type="title"/>
          </p:nvPr>
        </p:nvSpPr>
        <p:spPr>
          <a:xfrm>
            <a:off x="653976" y="4737546"/>
            <a:ext cx="10780776" cy="61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Ingeniería de Software I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8" name="Google Shape;298;p1"/>
          <p:cNvSpPr txBox="1">
            <a:spLocks noGrp="1"/>
          </p:cNvSpPr>
          <p:nvPr>
            <p:ph type="body" idx="1"/>
          </p:nvPr>
        </p:nvSpPr>
        <p:spPr>
          <a:xfrm>
            <a:off x="653976" y="5487888"/>
            <a:ext cx="922934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Calibri"/>
              <a:buNone/>
            </a:pPr>
            <a:r>
              <a:rPr lang="en-US" sz="4800"/>
              <a:t>Técnicas de Especificación de Requerimientos</a:t>
            </a:r>
            <a:endParaRPr sz="4800"/>
          </a:p>
        </p:txBody>
      </p:sp>
      <p:sp>
        <p:nvSpPr>
          <p:cNvPr id="304" name="Google Shape;304;p2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Casos de Uso</a:t>
            </a:r>
            <a:endParaRPr sz="3600"/>
          </a:p>
        </p:txBody>
      </p:sp>
      <p:sp>
        <p:nvSpPr>
          <p:cNvPr id="305" name="Google Shape;305;p2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2023</a:t>
            </a:r>
            <a:endParaRPr/>
          </a:p>
        </p:txBody>
      </p:sp>
      <p:sp>
        <p:nvSpPr>
          <p:cNvPr id="306" name="Google Shape;306;p2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307" name="Google Shape;307;p2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 sz="1046">
                <a:solidFill>
                  <a:srgbClr val="758085"/>
                </a:solidFill>
              </a:rPr>
              <a:t>2</a:t>
            </a:fld>
            <a:endParaRPr sz="1046">
              <a:solidFill>
                <a:srgbClr val="75808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"/>
          <p:cNvSpPr txBox="1">
            <a:spLocks noGrp="1"/>
          </p:cNvSpPr>
          <p:nvPr>
            <p:ph type="title"/>
          </p:nvPr>
        </p:nvSpPr>
        <p:spPr>
          <a:xfrm>
            <a:off x="767408" y="404664"/>
            <a:ext cx="835292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- Definición</a:t>
            </a:r>
            <a:endParaRPr sz="4400" b="1"/>
          </a:p>
        </p:txBody>
      </p:sp>
      <p:sp>
        <p:nvSpPr>
          <p:cNvPr id="313" name="Google Shape;313;p3"/>
          <p:cNvSpPr txBox="1">
            <a:spLocks noGrp="1"/>
          </p:cNvSpPr>
          <p:nvPr>
            <p:ph type="body" idx="1"/>
          </p:nvPr>
        </p:nvSpPr>
        <p:spPr>
          <a:xfrm>
            <a:off x="623392" y="1846265"/>
            <a:ext cx="10369152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0604" lvl="1" indent="-257175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Proceso de modelado de las “funcionalidades” del sistema en término de los eventos que interactúan entre los usuarios y el sistema.</a:t>
            </a:r>
            <a:endParaRPr/>
          </a:p>
          <a:p>
            <a:pPr marL="260604" lvl="1" indent="-1047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  <a:p>
            <a:pPr marL="260604" lvl="1" indent="-2571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Tiene sus orígenes en el modelado orientado a objetos (Jacobson 1992) pero su eficiencia en modelado de requerimientos hizo que se independice de la técnica de diseño utilizada, siendo aplicable a cualquier metodología de desarrollo.</a:t>
            </a:r>
            <a:endParaRPr/>
          </a:p>
          <a:p>
            <a:pPr marL="260604" lvl="1" indent="-1047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  <a:p>
            <a:pPr marL="260604" lvl="1" indent="-2571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El uso de CU facilita y alienta la participación de los usuarios.</a:t>
            </a:r>
            <a:endParaRPr/>
          </a:p>
        </p:txBody>
      </p:sp>
      <p:sp>
        <p:nvSpPr>
          <p:cNvPr id="314" name="Google Shape;314;p3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Whitten y Bentley </a:t>
            </a:r>
            <a:endParaRPr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3"/>
          <p:cNvSpPr txBox="1">
            <a:spLocks noGrp="1"/>
          </p:cNvSpPr>
          <p:nvPr>
            <p:ph type="ftr" idx="11"/>
          </p:nvPr>
        </p:nvSpPr>
        <p:spPr>
          <a:xfrm>
            <a:off x="4560421" y="649290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316" name="Google Shape;316;p3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3</a:t>
            </a:fld>
            <a:endParaRPr sz="7694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"/>
          <p:cNvSpPr txBox="1">
            <a:spLocks noGrp="1"/>
          </p:cNvSpPr>
          <p:nvPr>
            <p:ph type="title"/>
          </p:nvPr>
        </p:nvSpPr>
        <p:spPr>
          <a:xfrm>
            <a:off x="911424" y="332656"/>
            <a:ext cx="813690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- Beneficios</a:t>
            </a:r>
            <a:endParaRPr sz="4400" b="1"/>
          </a:p>
        </p:txBody>
      </p:sp>
      <p:sp>
        <p:nvSpPr>
          <p:cNvPr id="322" name="Google Shape;322;p4"/>
          <p:cNvSpPr txBox="1">
            <a:spLocks noGrp="1"/>
          </p:cNvSpPr>
          <p:nvPr>
            <p:ph type="body" idx="1"/>
          </p:nvPr>
        </p:nvSpPr>
        <p:spPr>
          <a:xfrm>
            <a:off x="839416" y="1772817"/>
            <a:ext cx="10585176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1480" lvl="2" indent="-4114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✔"/>
            </a:pPr>
            <a:r>
              <a:rPr lang="en-US" sz="2400" i="0"/>
              <a:t>Herramienta para capturar requerimientos funcionales.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✔"/>
            </a:pPr>
            <a:r>
              <a:rPr lang="en-US" sz="2400" i="0"/>
              <a:t>Descompone el alcance del sistema en piezas más manejables.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✔"/>
            </a:pPr>
            <a:r>
              <a:rPr lang="en-US" sz="2400" i="0"/>
              <a:t>Medio de comunicación con los usuarios.</a:t>
            </a:r>
            <a:endParaRPr/>
          </a:p>
          <a:p>
            <a:pPr marL="450850" lvl="3" indent="-45085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✔"/>
            </a:pPr>
            <a:r>
              <a:rPr lang="en-US" sz="2400"/>
              <a:t>Utiliza lenguaje común y fácil de entender por las partes.</a:t>
            </a:r>
            <a:endParaRPr/>
          </a:p>
          <a:p>
            <a:pPr marL="355600" lvl="2" indent="-355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✔"/>
            </a:pPr>
            <a:r>
              <a:rPr lang="en-US" sz="2400" i="0"/>
              <a:t>Permite estimar el alcance del proyecto y el esfuerzo a realizar.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✔"/>
            </a:pPr>
            <a:r>
              <a:rPr lang="en-US" sz="2400" i="0"/>
              <a:t>Define una línea base para la definición de los planes de prueba.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✔"/>
            </a:pPr>
            <a:r>
              <a:rPr lang="en-US" sz="2400" i="0"/>
              <a:t>Define una línea base para toda la documentación del sistema.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✔"/>
            </a:pPr>
            <a:r>
              <a:rPr lang="en-US" sz="2400" i="0"/>
              <a:t>Proporciona una herramienta para el seguimiento de los requisitos.</a:t>
            </a:r>
            <a:endParaRPr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 i="0"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</p:txBody>
      </p:sp>
      <p:sp>
        <p:nvSpPr>
          <p:cNvPr id="323" name="Google Shape;323;p4"/>
          <p:cNvSpPr txBox="1">
            <a:spLocks noGrp="1"/>
          </p:cNvSpPr>
          <p:nvPr>
            <p:ph type="ftr" idx="11"/>
          </p:nvPr>
        </p:nvSpPr>
        <p:spPr>
          <a:xfrm>
            <a:off x="2856212" y="666651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324" name="Google Shape;324;p4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4</a:t>
            </a:fld>
            <a:endParaRPr sz="7694">
              <a:solidFill>
                <a:srgbClr val="FFFFFF"/>
              </a:solidFill>
            </a:endParaRPr>
          </a:p>
        </p:txBody>
      </p:sp>
      <p:sp>
        <p:nvSpPr>
          <p:cNvPr id="325" name="Google Shape;325;p4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– Componentes</a:t>
            </a:r>
            <a:endParaRPr sz="4400" b="1"/>
          </a:p>
        </p:txBody>
      </p:sp>
      <p:sp>
        <p:nvSpPr>
          <p:cNvPr id="335" name="Google Shape;335;p5"/>
          <p:cNvSpPr txBox="1">
            <a:spLocks noGrp="1"/>
          </p:cNvSpPr>
          <p:nvPr>
            <p:ph type="body" idx="1"/>
          </p:nvPr>
        </p:nvSpPr>
        <p:spPr>
          <a:xfrm>
            <a:off x="549932" y="1988840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Diagrama de Casos de Uso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Ilustra las interacciones entre el sistema y los actores.</a:t>
            </a:r>
            <a:endParaRPr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Escenarios (narración del CU)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Descripción de la interacción entre el actor 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n-US" sz="2400"/>
              <a:t>    y el sistema para realizar la funcionalidad.</a:t>
            </a:r>
            <a:endParaRPr/>
          </a:p>
        </p:txBody>
      </p:sp>
      <p:sp>
        <p:nvSpPr>
          <p:cNvPr id="336" name="Google Shape;336;p5"/>
          <p:cNvSpPr txBox="1">
            <a:spLocks noGrp="1"/>
          </p:cNvSpPr>
          <p:nvPr>
            <p:ph type="body" idx="2"/>
          </p:nvPr>
        </p:nvSpPr>
        <p:spPr>
          <a:xfrm>
            <a:off x="549932" y="5832970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Whitten y Bentley </a:t>
            </a:r>
            <a:endParaRPr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5"/>
          <p:cNvSpPr txBox="1">
            <a:spLocks noGrp="1"/>
          </p:cNvSpPr>
          <p:nvPr>
            <p:ph type="ftr" idx="11"/>
          </p:nvPr>
        </p:nvSpPr>
        <p:spPr>
          <a:xfrm>
            <a:off x="3673946" y="6446315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338" name="Google Shape;338;p5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5</a:t>
            </a:fld>
            <a:endParaRPr sz="7694">
              <a:solidFill>
                <a:srgbClr val="FFFFFF"/>
              </a:solidFill>
            </a:endParaRPr>
          </a:p>
        </p:txBody>
      </p:sp>
      <p:pic>
        <p:nvPicPr>
          <p:cNvPr id="339" name="Google Shape;33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176" y="1196752"/>
            <a:ext cx="2452566" cy="2376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18204" y="2805590"/>
            <a:ext cx="2023864" cy="292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lang="en-US" sz="4000" b="1"/>
              <a:t>Casos de Uso – Diagrama</a:t>
            </a:r>
            <a:endParaRPr sz="4000" b="1"/>
          </a:p>
        </p:txBody>
      </p:sp>
      <p:sp>
        <p:nvSpPr>
          <p:cNvPr id="350" name="Google Shape;350;p6"/>
          <p:cNvSpPr txBox="1">
            <a:spLocks noGrp="1"/>
          </p:cNvSpPr>
          <p:nvPr>
            <p:ph type="body" idx="1"/>
          </p:nvPr>
        </p:nvSpPr>
        <p:spPr>
          <a:xfrm>
            <a:off x="1127448" y="1916832"/>
            <a:ext cx="9433048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0604" lvl="1" indent="-25717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Diagrama de Casos de Uso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Ejemplo</a:t>
            </a:r>
            <a:endParaRPr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  <a:p>
            <a:pPr marL="617220" lvl="3" indent="-464818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</p:txBody>
      </p:sp>
      <p:sp>
        <p:nvSpPr>
          <p:cNvPr id="351" name="Google Shape;351;p6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Whitten y Bentley </a:t>
            </a:r>
            <a:endParaRPr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6"/>
          <p:cNvSpPr txBox="1">
            <a:spLocks noGrp="1"/>
          </p:cNvSpPr>
          <p:nvPr>
            <p:ph type="ftr" idx="11"/>
          </p:nvPr>
        </p:nvSpPr>
        <p:spPr>
          <a:xfrm>
            <a:off x="5087889" y="6358707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353" name="Google Shape;353;p6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6</a:t>
            </a:fld>
            <a:endParaRPr sz="7694">
              <a:solidFill>
                <a:srgbClr val="FFFFFF"/>
              </a:solidFill>
            </a:endParaRPr>
          </a:p>
        </p:txBody>
      </p:sp>
      <p:pic>
        <p:nvPicPr>
          <p:cNvPr id="354" name="Google Shape;35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7889" y="1857375"/>
            <a:ext cx="4070180" cy="4262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"/>
          <p:cNvSpPr txBox="1">
            <a:spLocks noGrp="1"/>
          </p:cNvSpPr>
          <p:nvPr>
            <p:ph type="title"/>
          </p:nvPr>
        </p:nvSpPr>
        <p:spPr>
          <a:xfrm>
            <a:off x="551384" y="404664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 - Diagrama </a:t>
            </a:r>
            <a:endParaRPr sz="4400" b="1"/>
          </a:p>
        </p:txBody>
      </p:sp>
      <p:sp>
        <p:nvSpPr>
          <p:cNvPr id="364" name="Google Shape;364;p7"/>
          <p:cNvSpPr txBox="1">
            <a:spLocks noGrp="1"/>
          </p:cNvSpPr>
          <p:nvPr>
            <p:ph type="body" idx="1"/>
          </p:nvPr>
        </p:nvSpPr>
        <p:spPr>
          <a:xfrm>
            <a:off x="4007768" y="1916832"/>
            <a:ext cx="5904656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1480" lvl="2" indent="-41148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Caso de Uso</a:t>
            </a:r>
            <a:endParaRPr/>
          </a:p>
          <a:p>
            <a:pPr marL="617220" lvl="3" indent="-61722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Representa un objetivo (funcionalidad) individual del sistema y describe la secuencia de actividades y de interacciones para alcanzarlo.</a:t>
            </a:r>
            <a:endParaRPr/>
          </a:p>
          <a:p>
            <a:pPr marL="617220" lvl="3" indent="-61722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Para que el CU sea considerado un requerimiento debe estar acompañado de su respectivo escenario.</a:t>
            </a:r>
            <a:endParaRPr/>
          </a:p>
          <a:p>
            <a:pPr marL="411480" lvl="2" indent="-2590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  <a:p>
            <a:pPr marL="617220" lvl="3" indent="-464818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  <a:p>
            <a:pPr marL="411480" lvl="2" indent="-2590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</p:txBody>
      </p:sp>
      <p:sp>
        <p:nvSpPr>
          <p:cNvPr id="365" name="Google Shape;365;p7"/>
          <p:cNvSpPr txBox="1">
            <a:spLocks noGrp="1"/>
          </p:cNvSpPr>
          <p:nvPr>
            <p:ph type="body" idx="2"/>
          </p:nvPr>
        </p:nvSpPr>
        <p:spPr>
          <a:xfrm>
            <a:off x="551384" y="5680443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Whitten y Bentley </a:t>
            </a:r>
            <a:endParaRPr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7"/>
          <p:cNvSpPr txBox="1">
            <a:spLocks noGrp="1"/>
          </p:cNvSpPr>
          <p:nvPr>
            <p:ph type="ftr" idx="11"/>
          </p:nvPr>
        </p:nvSpPr>
        <p:spPr>
          <a:xfrm>
            <a:off x="3431704" y="649290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367" name="Google Shape;367;p7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7</a:t>
            </a:fld>
            <a:endParaRPr sz="7694">
              <a:solidFill>
                <a:srgbClr val="FFFFFF"/>
              </a:solidFill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839416" y="2492896"/>
            <a:ext cx="2592288" cy="1944216"/>
          </a:xfrm>
          <a:prstGeom prst="ellipse">
            <a:avLst/>
          </a:prstGeom>
          <a:solidFill>
            <a:srgbClr val="0070C0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Símbolo de Caso de Uso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– Diagrama</a:t>
            </a:r>
            <a:endParaRPr sz="4400" b="1"/>
          </a:p>
        </p:txBody>
      </p:sp>
      <p:sp>
        <p:nvSpPr>
          <p:cNvPr id="378" name="Google Shape;378;p8"/>
          <p:cNvSpPr txBox="1">
            <a:spLocks noGrp="1"/>
          </p:cNvSpPr>
          <p:nvPr>
            <p:ph type="body" idx="1"/>
          </p:nvPr>
        </p:nvSpPr>
        <p:spPr>
          <a:xfrm>
            <a:off x="4511824" y="1844824"/>
            <a:ext cx="4968552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1480" lvl="2" indent="-4114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Actores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Un actor inicia una actividad (CU) en el sistema. 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Representa un papel desempeñado por un usuario que interactúa (rol).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Puede ser una persona, sistema externo o dispositivo externo que dispare un evento (sensor, reloj).</a:t>
            </a:r>
            <a:endParaRPr/>
          </a:p>
          <a:p>
            <a:pPr marL="617220" lvl="3" indent="-464818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</p:txBody>
      </p:sp>
      <p:sp>
        <p:nvSpPr>
          <p:cNvPr id="379" name="Google Shape;379;p8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Whitten y Bentley </a:t>
            </a:r>
            <a:endParaRPr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8"/>
          <p:cNvSpPr txBox="1">
            <a:spLocks noGrp="1"/>
          </p:cNvSpPr>
          <p:nvPr>
            <p:ph type="ftr" idx="11"/>
          </p:nvPr>
        </p:nvSpPr>
        <p:spPr>
          <a:xfrm>
            <a:off x="4079776" y="6477784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381" name="Google Shape;381;p8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8</a:t>
            </a:fld>
            <a:endParaRPr sz="7694">
              <a:solidFill>
                <a:srgbClr val="FFFFFF"/>
              </a:solidFill>
            </a:endParaRPr>
          </a:p>
        </p:txBody>
      </p:sp>
      <p:pic>
        <p:nvPicPr>
          <p:cNvPr id="382" name="Google Shape;38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3432" y="1988840"/>
            <a:ext cx="3096344" cy="4229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 txBox="1">
            <a:spLocks noGrp="1"/>
          </p:cNvSpPr>
          <p:nvPr>
            <p:ph type="title"/>
          </p:nvPr>
        </p:nvSpPr>
        <p:spPr>
          <a:xfrm>
            <a:off x="1157968" y="475085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– Diagrama</a:t>
            </a:r>
            <a:endParaRPr sz="4400" b="1"/>
          </a:p>
        </p:txBody>
      </p:sp>
      <p:sp>
        <p:nvSpPr>
          <p:cNvPr id="392" name="Google Shape;392;p9"/>
          <p:cNvSpPr txBox="1">
            <a:spLocks noGrp="1"/>
          </p:cNvSpPr>
          <p:nvPr>
            <p:ph type="body" idx="1"/>
          </p:nvPr>
        </p:nvSpPr>
        <p:spPr>
          <a:xfrm>
            <a:off x="1157968" y="2017440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1480" lvl="2" indent="-4114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Relaciones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Asociaciones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Extensiones (Extends)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Uso o Inclusión  (Uses)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Dependencia (Depends)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Herencia</a:t>
            </a:r>
            <a:endParaRPr/>
          </a:p>
          <a:p>
            <a:pPr marL="617220" lvl="3" indent="-464818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</p:txBody>
      </p:sp>
      <p:sp>
        <p:nvSpPr>
          <p:cNvPr id="393" name="Google Shape;393;p9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Whitten y Bentley </a:t>
            </a:r>
            <a:endParaRPr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4" name="Google Shape;394;p9"/>
          <p:cNvSpPr txBox="1">
            <a:spLocks noGrp="1"/>
          </p:cNvSpPr>
          <p:nvPr>
            <p:ph type="ftr" idx="11"/>
          </p:nvPr>
        </p:nvSpPr>
        <p:spPr>
          <a:xfrm>
            <a:off x="5574455" y="6563232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395" name="Google Shape;395;p9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9</a:t>
            </a:fld>
            <a:endParaRPr sz="7694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0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- Diagrama</a:t>
            </a:r>
            <a:endParaRPr sz="4400" b="1"/>
          </a:p>
        </p:txBody>
      </p:sp>
      <p:sp>
        <p:nvSpPr>
          <p:cNvPr id="405" name="Google Shape;405;p10"/>
          <p:cNvSpPr txBox="1">
            <a:spLocks noGrp="1"/>
          </p:cNvSpPr>
          <p:nvPr>
            <p:ph type="body" idx="1"/>
          </p:nvPr>
        </p:nvSpPr>
        <p:spPr>
          <a:xfrm>
            <a:off x="623392" y="2136874"/>
            <a:ext cx="5760640" cy="201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1480" lvl="2" indent="-4114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Asociaciones 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Relación entre un actor y un CU en el que interactúan entre sí. </a:t>
            </a:r>
            <a:endParaRPr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</p:txBody>
      </p:sp>
      <p:sp>
        <p:nvSpPr>
          <p:cNvPr id="406" name="Google Shape;406;p10"/>
          <p:cNvSpPr txBox="1">
            <a:spLocks noGrp="1"/>
          </p:cNvSpPr>
          <p:nvPr>
            <p:ph type="ftr" idx="11"/>
          </p:nvPr>
        </p:nvSpPr>
        <p:spPr>
          <a:xfrm>
            <a:off x="6671735" y="630873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407" name="Google Shape;407;p10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10</a:t>
            </a:fld>
            <a:endParaRPr sz="7694">
              <a:solidFill>
                <a:srgbClr val="FFFFFF"/>
              </a:solidFill>
            </a:endParaRPr>
          </a:p>
        </p:txBody>
      </p:sp>
      <p:sp>
        <p:nvSpPr>
          <p:cNvPr id="408" name="Google Shape;408;p10"/>
          <p:cNvSpPr txBox="1"/>
          <p:nvPr/>
        </p:nvSpPr>
        <p:spPr>
          <a:xfrm>
            <a:off x="7680176" y="4762997"/>
            <a:ext cx="39206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(1) El Actor inicia el caso de uso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(2) El caso de uso interacciona con actor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4032" y="1844824"/>
            <a:ext cx="5476875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0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1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- Diagrama</a:t>
            </a:r>
            <a:endParaRPr sz="4400" b="1"/>
          </a:p>
        </p:txBody>
      </p:sp>
      <p:sp>
        <p:nvSpPr>
          <p:cNvPr id="420" name="Google Shape;420;p11"/>
          <p:cNvSpPr txBox="1">
            <a:spLocks noGrp="1"/>
          </p:cNvSpPr>
          <p:nvPr>
            <p:ph type="body" idx="1"/>
          </p:nvPr>
        </p:nvSpPr>
        <p:spPr>
          <a:xfrm>
            <a:off x="5783288" y="2204864"/>
            <a:ext cx="6408712" cy="366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1480" lvl="2" indent="-4114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n-US" sz="2800" b="1"/>
              <a:t>Extensiones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n-US" sz="2800"/>
              <a:t>Un CU extiende la funcionalidad de otro CU.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n-US" sz="2800"/>
              <a:t>Un CU puede tener muchos CU extensiones.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n-US" sz="2800"/>
              <a:t>Los CU extensiones sólo son iniciados por un CU.</a:t>
            </a:r>
            <a:endParaRPr/>
          </a:p>
          <a:p>
            <a:pPr marL="411480" lvl="2" indent="-2336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sz="2800"/>
          </a:p>
        </p:txBody>
      </p:sp>
      <p:sp>
        <p:nvSpPr>
          <p:cNvPr id="421" name="Google Shape;421;p11"/>
          <p:cNvSpPr txBox="1">
            <a:spLocks noGrp="1"/>
          </p:cNvSpPr>
          <p:nvPr>
            <p:ph type="ftr" idx="11"/>
          </p:nvPr>
        </p:nvSpPr>
        <p:spPr>
          <a:xfrm>
            <a:off x="4282144" y="648396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422" name="Google Shape;422;p11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11</a:t>
            </a:fld>
            <a:endParaRPr sz="7694">
              <a:solidFill>
                <a:srgbClr val="FFFFFF"/>
              </a:solidFill>
            </a:endParaRPr>
          </a:p>
        </p:txBody>
      </p:sp>
      <p:pic>
        <p:nvPicPr>
          <p:cNvPr id="423" name="Google Shape;42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392" y="2204864"/>
            <a:ext cx="5064813" cy="3384376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1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2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– Diagrama</a:t>
            </a:r>
            <a:endParaRPr sz="4400" b="1"/>
          </a:p>
        </p:txBody>
      </p:sp>
      <p:sp>
        <p:nvSpPr>
          <p:cNvPr id="434" name="Google Shape;434;p12"/>
          <p:cNvSpPr txBox="1">
            <a:spLocks noGrp="1"/>
          </p:cNvSpPr>
          <p:nvPr>
            <p:ph type="body" idx="1"/>
          </p:nvPr>
        </p:nvSpPr>
        <p:spPr>
          <a:xfrm>
            <a:off x="191344" y="1892172"/>
            <a:ext cx="5616624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1480" lvl="2" indent="-4114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Uso o inclusión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Reduce la redundancia entre dos o más CU al combinar los pasos comunes de los CU</a:t>
            </a:r>
            <a:endParaRPr/>
          </a:p>
        </p:txBody>
      </p:sp>
      <p:sp>
        <p:nvSpPr>
          <p:cNvPr id="435" name="Google Shape;435;p12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Whitten y Bentley </a:t>
            </a:r>
            <a:endParaRPr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2"/>
          <p:cNvSpPr txBox="1">
            <a:spLocks noGrp="1"/>
          </p:cNvSpPr>
          <p:nvPr>
            <p:ph type="ftr" idx="11"/>
          </p:nvPr>
        </p:nvSpPr>
        <p:spPr>
          <a:xfrm>
            <a:off x="6671735" y="630873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437" name="Google Shape;437;p12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12</a:t>
            </a:fld>
            <a:endParaRPr sz="7694">
              <a:solidFill>
                <a:srgbClr val="FFFFFF"/>
              </a:solidFill>
            </a:endParaRPr>
          </a:p>
        </p:txBody>
      </p:sp>
      <p:pic>
        <p:nvPicPr>
          <p:cNvPr id="438" name="Google Shape;43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92144" y="1988840"/>
            <a:ext cx="3991193" cy="3672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3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- Diagrama</a:t>
            </a:r>
            <a:endParaRPr sz="4400" b="1"/>
          </a:p>
        </p:txBody>
      </p:sp>
      <p:sp>
        <p:nvSpPr>
          <p:cNvPr id="448" name="Google Shape;448;p13"/>
          <p:cNvSpPr txBox="1">
            <a:spLocks noGrp="1"/>
          </p:cNvSpPr>
          <p:nvPr>
            <p:ph type="body" idx="1"/>
          </p:nvPr>
        </p:nvSpPr>
        <p:spPr>
          <a:xfrm>
            <a:off x="6023992" y="2060848"/>
            <a:ext cx="5256584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1480" lvl="2" indent="-4114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Dependencia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Relación entre CU que indica que un CU no puede realizarse hasta que se haya realizado otro CU.</a:t>
            </a:r>
            <a:endParaRPr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</p:txBody>
      </p:sp>
      <p:sp>
        <p:nvSpPr>
          <p:cNvPr id="449" name="Google Shape;449;p13"/>
          <p:cNvSpPr txBox="1">
            <a:spLocks noGrp="1"/>
          </p:cNvSpPr>
          <p:nvPr>
            <p:ph type="body" idx="2"/>
          </p:nvPr>
        </p:nvSpPr>
        <p:spPr>
          <a:xfrm>
            <a:off x="7842584" y="5660367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Whitten y Bentley </a:t>
            </a:r>
            <a:endParaRPr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0" name="Google Shape;450;p13"/>
          <p:cNvSpPr txBox="1">
            <a:spLocks noGrp="1"/>
          </p:cNvSpPr>
          <p:nvPr>
            <p:ph type="ftr" idx="11"/>
          </p:nvPr>
        </p:nvSpPr>
        <p:spPr>
          <a:xfrm>
            <a:off x="4560421" y="6387609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451" name="Google Shape;451;p13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13</a:t>
            </a:fld>
            <a:endParaRPr sz="7694">
              <a:solidFill>
                <a:srgbClr val="FFFFFF"/>
              </a:solidFill>
            </a:endParaRPr>
          </a:p>
        </p:txBody>
      </p:sp>
      <p:pic>
        <p:nvPicPr>
          <p:cNvPr id="452" name="Google Shape;45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376" y="1916832"/>
            <a:ext cx="4464496" cy="432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- Diagrama</a:t>
            </a:r>
            <a:endParaRPr sz="4400" b="1"/>
          </a:p>
        </p:txBody>
      </p:sp>
      <p:sp>
        <p:nvSpPr>
          <p:cNvPr id="462" name="Google Shape;462;p14"/>
          <p:cNvSpPr txBox="1">
            <a:spLocks noGrp="1"/>
          </p:cNvSpPr>
          <p:nvPr>
            <p:ph type="body" idx="1"/>
          </p:nvPr>
        </p:nvSpPr>
        <p:spPr>
          <a:xfrm>
            <a:off x="6672064" y="2060685"/>
            <a:ext cx="4824536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1480" lvl="2" indent="-4114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Herencia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Relación entre actores donde un actor hereda las funcionalidades de uno o varios actores. </a:t>
            </a:r>
            <a:endParaRPr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</p:txBody>
      </p:sp>
      <p:sp>
        <p:nvSpPr>
          <p:cNvPr id="463" name="Google Shape;463;p14"/>
          <p:cNvSpPr txBox="1">
            <a:spLocks noGrp="1"/>
          </p:cNvSpPr>
          <p:nvPr>
            <p:ph type="ftr" idx="11"/>
          </p:nvPr>
        </p:nvSpPr>
        <p:spPr>
          <a:xfrm>
            <a:off x="5602591" y="6515887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464" name="Google Shape;464;p14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14</a:t>
            </a:fld>
            <a:endParaRPr sz="7694">
              <a:solidFill>
                <a:srgbClr val="FFFFFF"/>
              </a:solidFill>
            </a:endParaRPr>
          </a:p>
        </p:txBody>
      </p:sp>
      <p:pic>
        <p:nvPicPr>
          <p:cNvPr id="465" name="Google Shape;46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368" y="1916833"/>
            <a:ext cx="6007500" cy="402272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4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- Escenarios</a:t>
            </a:r>
            <a:endParaRPr sz="4400" b="1"/>
          </a:p>
        </p:txBody>
      </p:sp>
      <p:sp>
        <p:nvSpPr>
          <p:cNvPr id="476" name="Google Shape;476;p15"/>
          <p:cNvSpPr txBox="1">
            <a:spLocks noGrp="1"/>
          </p:cNvSpPr>
          <p:nvPr>
            <p:ph type="body" idx="1"/>
          </p:nvPr>
        </p:nvSpPr>
        <p:spPr>
          <a:xfrm>
            <a:off x="1631504" y="2132856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1480" lvl="2" indent="-4114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En el escenario se describen:</a:t>
            </a:r>
            <a:endParaRPr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  <a:p>
            <a:pPr marL="1325880" lvl="4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La interacción del escenario</a:t>
            </a:r>
            <a:endParaRPr/>
          </a:p>
          <a:p>
            <a:pPr marL="1409700" lvl="4" indent="-1905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  <a:p>
            <a:pPr marL="1325880" lvl="4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Eventos alternativos</a:t>
            </a:r>
            <a:endParaRPr/>
          </a:p>
          <a:p>
            <a:pPr marL="617220" lvl="3" indent="-464818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  <a:p>
            <a:pPr marL="411480" lvl="2" indent="-2590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</p:txBody>
      </p:sp>
      <p:sp>
        <p:nvSpPr>
          <p:cNvPr id="477" name="Google Shape;477;p15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Whitten y Bentley </a:t>
            </a:r>
            <a:endParaRPr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8" name="Google Shape;478;p15"/>
          <p:cNvSpPr txBox="1">
            <a:spLocks noGrp="1"/>
          </p:cNvSpPr>
          <p:nvPr>
            <p:ph type="ftr" idx="11"/>
          </p:nvPr>
        </p:nvSpPr>
        <p:spPr>
          <a:xfrm>
            <a:off x="6671735" y="630873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479" name="Google Shape;479;p15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15</a:t>
            </a:fld>
            <a:endParaRPr sz="7694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6"/>
          <p:cNvSpPr txBox="1">
            <a:spLocks noGrp="1"/>
          </p:cNvSpPr>
          <p:nvPr>
            <p:ph type="title"/>
          </p:nvPr>
        </p:nvSpPr>
        <p:spPr>
          <a:xfrm>
            <a:off x="879993" y="-803855"/>
            <a:ext cx="9727047" cy="279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b="1"/>
              <a:t>Casos de Uso  -  Ejemplo de escenario</a:t>
            </a:r>
            <a:endParaRPr b="1"/>
          </a:p>
        </p:txBody>
      </p:sp>
      <p:sp>
        <p:nvSpPr>
          <p:cNvPr id="485" name="Google Shape;485;p16"/>
          <p:cNvSpPr txBox="1">
            <a:spLocks noGrp="1"/>
          </p:cNvSpPr>
          <p:nvPr>
            <p:ph type="ftr" idx="11"/>
          </p:nvPr>
        </p:nvSpPr>
        <p:spPr>
          <a:xfrm>
            <a:off x="6671735" y="630873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486" name="Google Shape;486;p16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16</a:t>
            </a:fld>
            <a:endParaRPr sz="7694" dirty="0">
              <a:solidFill>
                <a:srgbClr val="FFFFFF"/>
              </a:solidFill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A265E285-CF7C-7713-5D58-638A3A2A5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683635"/>
              </p:ext>
            </p:extLst>
          </p:nvPr>
        </p:nvGraphicFramePr>
        <p:xfrm>
          <a:off x="1457630" y="2129648"/>
          <a:ext cx="8127999" cy="3113732"/>
        </p:xfrm>
        <a:graphic>
          <a:graphicData uri="http://schemas.openxmlformats.org/drawingml/2006/table">
            <a:tbl>
              <a:tblPr firstRow="1" bandRow="1">
                <a:tableStyleId>{374BD2B4-C656-42CA-AF79-31C11DCC5942}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90402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47993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64813239"/>
                    </a:ext>
                  </a:extLst>
                </a:gridCol>
              </a:tblGrid>
              <a:tr h="517852">
                <a:tc>
                  <a:txBody>
                    <a:bodyPr/>
                    <a:lstStyle/>
                    <a:p>
                      <a:r>
                        <a:rPr lang="es-ES" dirty="0"/>
                        <a:t>Nombre del caso de uso</a:t>
                      </a:r>
                      <a:endParaRPr lang="es-A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46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Descripcion</a:t>
                      </a:r>
                      <a:endParaRPr lang="es-A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713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Actores</a:t>
                      </a:r>
                      <a:endParaRPr lang="es-A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25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Precondiciones</a:t>
                      </a:r>
                      <a:endParaRPr lang="es-A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47063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s-ES" dirty="0"/>
                        <a:t>Curso Normal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Acccion</a:t>
                      </a:r>
                      <a:r>
                        <a:rPr lang="es-ES" dirty="0"/>
                        <a:t> del Actor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Acciones del Sistema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8977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467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Curso Alterno</a:t>
                      </a:r>
                      <a:endParaRPr lang="es-A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156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Postcondicion</a:t>
                      </a:r>
                      <a:endParaRPr lang="es-A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125156"/>
                  </a:ext>
                </a:extLst>
              </a:tr>
            </a:tbl>
          </a:graphicData>
        </a:graphic>
      </p:graphicFrame>
      <p:sp>
        <p:nvSpPr>
          <p:cNvPr id="3" name="Google Shape;490;p16">
            <a:extLst>
              <a:ext uri="{FF2B5EF4-FFF2-40B4-BE49-F238E27FC236}">
                <a16:creationId xmlns:a16="http://schemas.microsoft.com/office/drawing/2014/main" id="{15C89BF3-1023-5BFE-A2D2-F21969600CBF}"/>
              </a:ext>
            </a:extLst>
          </p:cNvPr>
          <p:cNvSpPr/>
          <p:nvPr/>
        </p:nvSpPr>
        <p:spPr>
          <a:xfrm>
            <a:off x="3163187" y="349399"/>
            <a:ext cx="2250454" cy="95478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47753" y="112878"/>
                </a:moveTo>
                <a:lnTo>
                  <a:pt x="22307" y="247390"/>
                </a:lnTo>
              </a:path>
            </a:pathLst>
          </a:custGeom>
          <a:solidFill>
            <a:srgbClr val="00B0F0"/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del  CU,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debe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comenzar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 un verbo y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representar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la meta del CU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492;p16">
            <a:extLst>
              <a:ext uri="{FF2B5EF4-FFF2-40B4-BE49-F238E27FC236}">
                <a16:creationId xmlns:a16="http://schemas.microsoft.com/office/drawing/2014/main" id="{66E4E5AA-9B88-100C-1E37-1B9CA770FF82}"/>
              </a:ext>
            </a:extLst>
          </p:cNvPr>
          <p:cNvSpPr/>
          <p:nvPr/>
        </p:nvSpPr>
        <p:spPr>
          <a:xfrm>
            <a:off x="-970853" y="2125428"/>
            <a:ext cx="1944291" cy="684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122848" y="49622"/>
                </a:moveTo>
                <a:lnTo>
                  <a:pt x="149292" y="193146"/>
                </a:lnTo>
              </a:path>
            </a:pathLst>
          </a:custGeom>
          <a:solidFill>
            <a:srgbClr val="C00000"/>
          </a:solidFill>
          <a:ln w="22225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Actor principal que se beneficia del CU</a:t>
            </a: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495;p16">
            <a:extLst>
              <a:ext uri="{FF2B5EF4-FFF2-40B4-BE49-F238E27FC236}">
                <a16:creationId xmlns:a16="http://schemas.microsoft.com/office/drawing/2014/main" id="{06F07D15-D83B-0295-6C5E-32B8638B86E1}"/>
              </a:ext>
            </a:extLst>
          </p:cNvPr>
          <p:cNvSpPr/>
          <p:nvPr/>
        </p:nvSpPr>
        <p:spPr>
          <a:xfrm>
            <a:off x="4546087" y="2627621"/>
            <a:ext cx="1944290" cy="68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119005" y="23015"/>
                </a:lnTo>
              </a:path>
            </a:pathLst>
          </a:custGeom>
          <a:solidFill>
            <a:schemeClr val="accent1"/>
          </a:solidFill>
          <a:ln w="19050" cap="flat" cmpd="sng">
            <a:solidFill>
              <a:schemeClr val="tx2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corta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precisa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del </a:t>
            </a:r>
            <a:r>
              <a:rPr lang="en-US" sz="1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propósito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del CU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495;p16">
            <a:extLst>
              <a:ext uri="{FF2B5EF4-FFF2-40B4-BE49-F238E27FC236}">
                <a16:creationId xmlns:a16="http://schemas.microsoft.com/office/drawing/2014/main" id="{556B5E14-2FFB-A853-F972-22362FB57783}"/>
              </a:ext>
            </a:extLst>
          </p:cNvPr>
          <p:cNvSpPr/>
          <p:nvPr/>
        </p:nvSpPr>
        <p:spPr>
          <a:xfrm>
            <a:off x="7344306" y="3692641"/>
            <a:ext cx="4211422" cy="1108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119005" y="23015"/>
                </a:lnTo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22225" cap="flat" cmpd="sng">
            <a:solidFill>
              <a:schemeClr val="tx2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1400"/>
            </a:pPr>
            <a:r>
              <a:rPr lang="es-ES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Secuencia normal (sin errores ni condiciones) realizada por los actores y el sistema.</a:t>
            </a:r>
            <a:endParaRPr lang="es-ES" dirty="0"/>
          </a:p>
          <a:p>
            <a:pPr lvl="0">
              <a:buSzPts val="1400"/>
            </a:pPr>
            <a:r>
              <a:rPr lang="es-ES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Debe representar la interacción entre el actor y el sistema.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05;p17">
            <a:extLst>
              <a:ext uri="{FF2B5EF4-FFF2-40B4-BE49-F238E27FC236}">
                <a16:creationId xmlns:a16="http://schemas.microsoft.com/office/drawing/2014/main" id="{66FE2354-3E6F-765F-14F4-FE8C1F8BF48A}"/>
              </a:ext>
            </a:extLst>
          </p:cNvPr>
          <p:cNvSpPr/>
          <p:nvPr/>
        </p:nvSpPr>
        <p:spPr>
          <a:xfrm>
            <a:off x="6552618" y="2083262"/>
            <a:ext cx="1944290" cy="16557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2931" y="102269"/>
                </a:lnTo>
              </a:path>
            </a:pathLst>
          </a:custGeom>
          <a:solidFill>
            <a:srgbClr val="00B050"/>
          </a:solidFill>
          <a:ln w="2222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restricción del estado del  sistema antes de la ejecución del CU ( por ejemplo otro CU que debe ejecutarse previamente)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495;p16">
            <a:extLst>
              <a:ext uri="{FF2B5EF4-FFF2-40B4-BE49-F238E27FC236}">
                <a16:creationId xmlns:a16="http://schemas.microsoft.com/office/drawing/2014/main" id="{932F7FC0-CDEB-DDF9-5151-BF9EEE0138EB}"/>
              </a:ext>
            </a:extLst>
          </p:cNvPr>
          <p:cNvSpPr/>
          <p:nvPr/>
        </p:nvSpPr>
        <p:spPr>
          <a:xfrm>
            <a:off x="7427405" y="4592782"/>
            <a:ext cx="4211422" cy="1108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119005" y="23015"/>
                </a:lnTo>
              </a:path>
            </a:pathLst>
          </a:custGeom>
          <a:solidFill>
            <a:schemeClr val="accent1"/>
          </a:solidFill>
          <a:ln w="22225" cap="flat" cmpd="sng">
            <a:solidFill>
              <a:schemeClr val="tx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1400"/>
            </a:pPr>
            <a:r>
              <a:rPr lang="es-E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Describen el comportamiento si ocurre una excepción o variación del curso típico</a:t>
            </a:r>
          </a:p>
          <a:p>
            <a:pPr lvl="0">
              <a:buSzPts val="1400"/>
            </a:pPr>
            <a:r>
              <a:rPr lang="es-ES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05;p17">
            <a:extLst>
              <a:ext uri="{FF2B5EF4-FFF2-40B4-BE49-F238E27FC236}">
                <a16:creationId xmlns:a16="http://schemas.microsoft.com/office/drawing/2014/main" id="{7AE5F5A9-1BD4-7A56-B470-82EC90DA5D42}"/>
              </a:ext>
            </a:extLst>
          </p:cNvPr>
          <p:cNvSpPr/>
          <p:nvPr/>
        </p:nvSpPr>
        <p:spPr>
          <a:xfrm>
            <a:off x="5274226" y="3871065"/>
            <a:ext cx="1944290" cy="16557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2931" y="102269"/>
                </a:lnTo>
              </a:path>
            </a:pathLst>
          </a:custGeom>
          <a:solidFill>
            <a:srgbClr val="7030A0"/>
          </a:solidFill>
          <a:ln w="222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1400"/>
            </a:pPr>
            <a:r>
              <a:rPr lang="es-E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Restricción del estado del sistema después de la finalización exitosa del CU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9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– Proceso de modelado</a:t>
            </a:r>
            <a:endParaRPr sz="4400" b="1"/>
          </a:p>
        </p:txBody>
      </p:sp>
      <p:sp>
        <p:nvSpPr>
          <p:cNvPr id="529" name="Google Shape;529;p19"/>
          <p:cNvSpPr txBox="1">
            <a:spLocks noGrp="1"/>
          </p:cNvSpPr>
          <p:nvPr>
            <p:ph type="body" idx="1"/>
          </p:nvPr>
        </p:nvSpPr>
        <p:spPr>
          <a:xfrm>
            <a:off x="1775520" y="2420888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9080" lvl="0" indent="-2590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Pasos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Identificar a los actores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Identificar los CU para los requerimientos 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Construir el diagrama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Realizar los escenarios</a:t>
            </a:r>
            <a:endParaRPr/>
          </a:p>
          <a:p>
            <a:pPr marL="68580" lvl="0" indent="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530" name="Google Shape;530;p19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Whitten y Bentley </a:t>
            </a:r>
            <a:endParaRPr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1" name="Google Shape;531;p19"/>
          <p:cNvSpPr txBox="1">
            <a:spLocks noGrp="1"/>
          </p:cNvSpPr>
          <p:nvPr>
            <p:ph type="ftr" idx="11"/>
          </p:nvPr>
        </p:nvSpPr>
        <p:spPr>
          <a:xfrm>
            <a:off x="6671735" y="630873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532" name="Google Shape;532;p19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17</a:t>
            </a:fld>
            <a:endParaRPr sz="7694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0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– Proceso de modelado</a:t>
            </a:r>
            <a:endParaRPr sz="4400" b="1"/>
          </a:p>
        </p:txBody>
      </p:sp>
      <p:sp>
        <p:nvSpPr>
          <p:cNvPr id="538" name="Google Shape;538;p20"/>
          <p:cNvSpPr txBox="1">
            <a:spLocks noGrp="1"/>
          </p:cNvSpPr>
          <p:nvPr>
            <p:ph type="body" idx="1"/>
          </p:nvPr>
        </p:nvSpPr>
        <p:spPr>
          <a:xfrm>
            <a:off x="1343472" y="1844824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0604" lvl="1" indent="-25717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Identificar a los actores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Dónde buscar actores potenciales: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Documentación o manuales existentes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Minutas de reunión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Documentos de requerimientos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Responder a: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¿Quién o qué proporciona las entradas al sistema?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¿Quién o qué recibe las salidas del sistema?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¿Se requieren interfaces con otros sistemas?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¿Quién mantendrá la información en el sistema?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Deberán nombrarse con un sustantivo o frase sustantiva</a:t>
            </a:r>
            <a:endParaRPr/>
          </a:p>
          <a:p>
            <a:pPr marL="617220" lvl="3" indent="-464818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</p:txBody>
      </p:sp>
      <p:sp>
        <p:nvSpPr>
          <p:cNvPr id="539" name="Google Shape;539;p20"/>
          <p:cNvSpPr txBox="1">
            <a:spLocks noGrp="1"/>
          </p:cNvSpPr>
          <p:nvPr>
            <p:ph type="ftr" idx="11"/>
          </p:nvPr>
        </p:nvSpPr>
        <p:spPr>
          <a:xfrm>
            <a:off x="5574455" y="639359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540" name="Google Shape;540;p20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18</a:t>
            </a:fld>
            <a:endParaRPr sz="7694">
              <a:solidFill>
                <a:srgbClr val="FFFFFF"/>
              </a:solidFill>
            </a:endParaRPr>
          </a:p>
        </p:txBody>
      </p:sp>
      <p:sp>
        <p:nvSpPr>
          <p:cNvPr id="541" name="Google Shape;541;p20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1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– Proceso de modelado</a:t>
            </a:r>
            <a:endParaRPr sz="4400" b="1"/>
          </a:p>
        </p:txBody>
      </p:sp>
      <p:sp>
        <p:nvSpPr>
          <p:cNvPr id="547" name="Google Shape;547;p21"/>
          <p:cNvSpPr txBox="1">
            <a:spLocks noGrp="1"/>
          </p:cNvSpPr>
          <p:nvPr>
            <p:ph type="body" idx="1"/>
          </p:nvPr>
        </p:nvSpPr>
        <p:spPr>
          <a:xfrm>
            <a:off x="1516728" y="1838582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0604" lvl="1" indent="-25717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Identificar a los actores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Identificar los CU para los requerimientos 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Responder a 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¿Cuáles son las principales tareas del actor?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¿Qué información necesita el actor del sistema?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¿Qué información proporciona el actor al sistema?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¿Necesita el sistema informar al actor de eventos o cambios ocurridos?</a:t>
            </a:r>
            <a:endParaRPr/>
          </a:p>
          <a:p>
            <a:pPr marL="617220" lvl="3" indent="-61722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/>
              <a:t>¿Necesita el actor informar al sistema de eventos o cambios ocurridos?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Construir el diagrama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 sz="2400" b="1"/>
              <a:t>Realizar los escenarios</a:t>
            </a:r>
            <a:endParaRPr/>
          </a:p>
          <a:p>
            <a:pPr marL="68580" lvl="0" indent="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548" name="Google Shape;548;p21"/>
          <p:cNvSpPr txBox="1">
            <a:spLocks noGrp="1"/>
          </p:cNvSpPr>
          <p:nvPr>
            <p:ph type="ftr" idx="11"/>
          </p:nvPr>
        </p:nvSpPr>
        <p:spPr>
          <a:xfrm>
            <a:off x="5120868" y="6523099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549" name="Google Shape;549;p21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19</a:t>
            </a:fld>
            <a:endParaRPr sz="7694">
              <a:solidFill>
                <a:srgbClr val="FFFFFF"/>
              </a:solidFill>
            </a:endParaRPr>
          </a:p>
        </p:txBody>
      </p:sp>
      <p:sp>
        <p:nvSpPr>
          <p:cNvPr id="550" name="Google Shape;550;p21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2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– Características importantes</a:t>
            </a:r>
            <a:endParaRPr sz="4400" b="1"/>
          </a:p>
        </p:txBody>
      </p:sp>
      <p:sp>
        <p:nvSpPr>
          <p:cNvPr id="556" name="Google Shape;556;p22"/>
          <p:cNvSpPr txBox="1">
            <a:spLocks noGrp="1"/>
          </p:cNvSpPr>
          <p:nvPr>
            <p:ph type="body" idx="1"/>
          </p:nvPr>
        </p:nvSpPr>
        <p:spPr>
          <a:xfrm>
            <a:off x="983432" y="2132856"/>
            <a:ext cx="9865096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6329" lvl="1" indent="-34290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▪"/>
            </a:pPr>
            <a:r>
              <a:rPr lang="en-US" sz="2400"/>
              <a:t>Un CU debe representar una funcionalidad concreta. </a:t>
            </a:r>
            <a:endParaRPr/>
          </a:p>
          <a:p>
            <a:pPr marL="346329" lvl="1" indent="-3429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▪"/>
            </a:pPr>
            <a:r>
              <a:rPr lang="en-US" sz="2400"/>
              <a:t>La descripción de los pasos en los escenarios debe contener más de un paso, para representar la interacción entre los componentes.</a:t>
            </a:r>
            <a:endParaRPr/>
          </a:p>
          <a:p>
            <a:pPr marL="346329" lvl="1" indent="-3429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▪"/>
            </a:pPr>
            <a:r>
              <a:rPr lang="en-US" sz="2400"/>
              <a:t>El uso de condicionales en el curso normal, es limitado a la invocación de excepciones, ya que este flujo representa la ejecución del caso sin alteraciones.</a:t>
            </a:r>
            <a:endParaRPr/>
          </a:p>
          <a:p>
            <a:pPr marL="346329" lvl="1" indent="-3429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▪"/>
            </a:pPr>
            <a:r>
              <a:rPr lang="en-US" sz="2400"/>
              <a:t>Las pre-condiciones no deben representarse en los cursos alternativos, ya que al ser una pre-condición no va a ocurrir.</a:t>
            </a:r>
            <a:endParaRPr/>
          </a:p>
          <a:p>
            <a:pPr marL="346329" lvl="1" indent="-3429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▪"/>
            </a:pPr>
            <a:r>
              <a:rPr lang="en-US" sz="2400"/>
              <a:t>Los “uses” deben ser accedidos por lo menos desde dos CU.</a:t>
            </a:r>
            <a:endParaRPr sz="2400"/>
          </a:p>
        </p:txBody>
      </p:sp>
      <p:sp>
        <p:nvSpPr>
          <p:cNvPr id="557" name="Google Shape;557;p22"/>
          <p:cNvSpPr txBox="1">
            <a:spLocks noGrp="1"/>
          </p:cNvSpPr>
          <p:nvPr>
            <p:ph type="ftr" idx="11"/>
          </p:nvPr>
        </p:nvSpPr>
        <p:spPr>
          <a:xfrm>
            <a:off x="5120868" y="6515698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558" name="Google Shape;558;p22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20</a:t>
            </a:fld>
            <a:endParaRPr sz="7694">
              <a:solidFill>
                <a:srgbClr val="FFFFFF"/>
              </a:solidFill>
            </a:endParaRPr>
          </a:p>
        </p:txBody>
      </p:sp>
      <p:sp>
        <p:nvSpPr>
          <p:cNvPr id="559" name="Google Shape;559;p22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3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– Ejemplo</a:t>
            </a:r>
            <a:endParaRPr sz="4400" b="1"/>
          </a:p>
        </p:txBody>
      </p:sp>
      <p:sp>
        <p:nvSpPr>
          <p:cNvPr id="565" name="Google Shape;565;p23"/>
          <p:cNvSpPr txBox="1">
            <a:spLocks noGrp="1"/>
          </p:cNvSpPr>
          <p:nvPr>
            <p:ph type="body" idx="1"/>
          </p:nvPr>
        </p:nvSpPr>
        <p:spPr>
          <a:xfrm>
            <a:off x="1127448" y="2060848"/>
            <a:ext cx="100811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Un sitio web brinda información acerca de los artículos periodísticos más destacados de la semana. La información puede ser accedida por usuarios registrados o anónimos. A los usuarios registrados se les permite leer y/o descargar los artículos. Si el artículo tiene categoría “exclusiva” la descarga del artículo tendrá un costo. El pago es mediante tarjeta de crédito.</a:t>
            </a:r>
            <a:endParaRPr sz="2400"/>
          </a:p>
          <a:p>
            <a:pPr marL="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 los usuarios anónimos sólo se les permite leer los artículos.</a:t>
            </a:r>
            <a:endParaRPr sz="2400"/>
          </a:p>
          <a:p>
            <a:pPr marL="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Un usuario anónimo puede registrarse y pasar a ser un usuario registrado, para lo cual debe completar los datos personales, ingresar el número de tarjeta de crédito a la que se cargará el monto mensual del abono. </a:t>
            </a:r>
            <a:endParaRPr sz="2400"/>
          </a:p>
          <a:p>
            <a:pPr marL="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Los usuarios registrados pueden modificar sus datos personales.</a:t>
            </a:r>
            <a:endParaRPr sz="2400"/>
          </a:p>
          <a:p>
            <a:pPr marL="6858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6858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566" name="Google Shape;566;p23"/>
          <p:cNvSpPr txBox="1">
            <a:spLocks noGrp="1"/>
          </p:cNvSpPr>
          <p:nvPr>
            <p:ph type="ftr" idx="11"/>
          </p:nvPr>
        </p:nvSpPr>
        <p:spPr>
          <a:xfrm>
            <a:off x="1663636" y="6442731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567" name="Google Shape;567;p23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21</a:t>
            </a:fld>
            <a:endParaRPr sz="7694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4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– Ejemplo - Actores</a:t>
            </a:r>
            <a:endParaRPr sz="4400" b="1"/>
          </a:p>
        </p:txBody>
      </p:sp>
      <p:sp>
        <p:nvSpPr>
          <p:cNvPr id="573" name="Google Shape;573;p24"/>
          <p:cNvSpPr txBox="1">
            <a:spLocks noGrp="1"/>
          </p:cNvSpPr>
          <p:nvPr>
            <p:ph type="body" idx="1"/>
          </p:nvPr>
        </p:nvSpPr>
        <p:spPr>
          <a:xfrm>
            <a:off x="1127448" y="2060848"/>
            <a:ext cx="100811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Un sitio web brinda información acerca de los artículos periodísticos más destacados de la semana. La información puede ser accedida por usuarios registrados o anónimos. A los usuarios registrados se les permite leer y/o descargar los artículos. Si el artículo tiene categoría “exclusiva” la descarga del artículo tendrá un costo. El pago es mediante tarjeta de crédito.</a:t>
            </a:r>
            <a:endParaRPr sz="2400"/>
          </a:p>
          <a:p>
            <a:pPr marL="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 los usuarios anónimos sólo se les permite leer los artículos.</a:t>
            </a:r>
            <a:endParaRPr sz="2400"/>
          </a:p>
          <a:p>
            <a:pPr marL="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Un usuario anónimo puede registrarse y pasar a ser un usuario registrado, para lo cual debe completar los datos personales, ingresar el número de tarjeta de crédito a la que se cargará el monto mensual del abono. </a:t>
            </a:r>
            <a:endParaRPr sz="2400"/>
          </a:p>
          <a:p>
            <a:pPr marL="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Los usuarios registrados pueden modificar sus datos personales.</a:t>
            </a:r>
            <a:endParaRPr sz="2400"/>
          </a:p>
          <a:p>
            <a:pPr marL="6858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6858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574" name="Google Shape;574;p24"/>
          <p:cNvSpPr txBox="1">
            <a:spLocks noGrp="1"/>
          </p:cNvSpPr>
          <p:nvPr>
            <p:ph type="ftr" idx="11"/>
          </p:nvPr>
        </p:nvSpPr>
        <p:spPr>
          <a:xfrm>
            <a:off x="4366173" y="6534967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575" name="Google Shape;575;p24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22</a:t>
            </a:fld>
            <a:endParaRPr sz="7694">
              <a:solidFill>
                <a:srgbClr val="FFFFFF"/>
              </a:solidFill>
            </a:endParaRPr>
          </a:p>
        </p:txBody>
      </p:sp>
      <p:sp>
        <p:nvSpPr>
          <p:cNvPr id="576" name="Google Shape;576;p24"/>
          <p:cNvSpPr/>
          <p:nvPr/>
        </p:nvSpPr>
        <p:spPr>
          <a:xfrm>
            <a:off x="1127448" y="2713829"/>
            <a:ext cx="1541270" cy="288032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4"/>
          <p:cNvSpPr/>
          <p:nvPr/>
        </p:nvSpPr>
        <p:spPr>
          <a:xfrm>
            <a:off x="2983739" y="2713829"/>
            <a:ext cx="1382434" cy="296416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4"/>
          <p:cNvSpPr/>
          <p:nvPr/>
        </p:nvSpPr>
        <p:spPr>
          <a:xfrm>
            <a:off x="6744072" y="3356992"/>
            <a:ext cx="2232248" cy="288032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5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– Ejemplo – Casos de Uso </a:t>
            </a:r>
            <a:endParaRPr sz="4400" b="1"/>
          </a:p>
        </p:txBody>
      </p:sp>
      <p:sp>
        <p:nvSpPr>
          <p:cNvPr id="584" name="Google Shape;584;p25"/>
          <p:cNvSpPr txBox="1">
            <a:spLocks noGrp="1"/>
          </p:cNvSpPr>
          <p:nvPr>
            <p:ph type="body" idx="1"/>
          </p:nvPr>
        </p:nvSpPr>
        <p:spPr>
          <a:xfrm>
            <a:off x="1127448" y="2060848"/>
            <a:ext cx="100811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Un sitio web brinda información acerca de los artículos periodísticos más destacados de la semana. La información puede ser accedida por usuarios registrados o anónimos. A los usuarios registrados se les permite leer y/o descargar los artículos. Si el artículo tiene categoría “exclusiva” la descarga del artículo tendrá un costo. El pago es mediante tarjeta de crédito.</a:t>
            </a:r>
            <a:endParaRPr sz="2400"/>
          </a:p>
          <a:p>
            <a:pPr marL="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 los usuarios anónimos sólo se les permite leer los artículos.</a:t>
            </a:r>
            <a:endParaRPr sz="2400"/>
          </a:p>
          <a:p>
            <a:pPr marL="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Un usuario anónimo puede registrarse y pasar a ser un usuario registrado, para lo cual debe completar los datos personales, ingresar el número de tarjeta de crédito a la que se cargará el monto mensual del abono. </a:t>
            </a:r>
            <a:endParaRPr sz="2400"/>
          </a:p>
          <a:p>
            <a:pPr marL="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Los usuarios registrados pueden modificar sus datos personales.</a:t>
            </a:r>
            <a:endParaRPr sz="2400"/>
          </a:p>
          <a:p>
            <a:pPr marL="6858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6858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585" name="Google Shape;585;p25"/>
          <p:cNvSpPr txBox="1">
            <a:spLocks noGrp="1"/>
          </p:cNvSpPr>
          <p:nvPr>
            <p:ph type="ftr" idx="11"/>
          </p:nvPr>
        </p:nvSpPr>
        <p:spPr>
          <a:xfrm>
            <a:off x="6671735" y="630873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586" name="Google Shape;586;p25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23</a:t>
            </a:fld>
            <a:endParaRPr sz="7694">
              <a:solidFill>
                <a:srgbClr val="FFFFFF"/>
              </a:solidFill>
            </a:endParaRPr>
          </a:p>
        </p:txBody>
      </p:sp>
      <p:sp>
        <p:nvSpPr>
          <p:cNvPr id="587" name="Google Shape;587;p25"/>
          <p:cNvSpPr/>
          <p:nvPr/>
        </p:nvSpPr>
        <p:spPr>
          <a:xfrm>
            <a:off x="9984432" y="2756464"/>
            <a:ext cx="648072" cy="240488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5"/>
          <p:cNvSpPr/>
          <p:nvPr/>
        </p:nvSpPr>
        <p:spPr>
          <a:xfrm>
            <a:off x="1199456" y="2996952"/>
            <a:ext cx="2880320" cy="36004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5"/>
          <p:cNvSpPr/>
          <p:nvPr/>
        </p:nvSpPr>
        <p:spPr>
          <a:xfrm>
            <a:off x="2207568" y="3371096"/>
            <a:ext cx="1936941" cy="36004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4655840" y="4221088"/>
            <a:ext cx="1368152" cy="288032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159896" y="5301208"/>
            <a:ext cx="3888432" cy="288032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6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Casos de Uso – Ejemplo</a:t>
            </a:r>
            <a:endParaRPr sz="4400" b="1"/>
          </a:p>
        </p:txBody>
      </p:sp>
      <p:sp>
        <p:nvSpPr>
          <p:cNvPr id="597" name="Google Shape;597;p26"/>
          <p:cNvSpPr txBox="1">
            <a:spLocks noGrp="1"/>
          </p:cNvSpPr>
          <p:nvPr>
            <p:ph type="body" idx="1"/>
          </p:nvPr>
        </p:nvSpPr>
        <p:spPr>
          <a:xfrm>
            <a:off x="407368" y="1916832"/>
            <a:ext cx="10972800" cy="417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 b="1"/>
              <a:t>Identificar los actores: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Char char="◦"/>
            </a:pPr>
            <a:r>
              <a:rPr lang="en-US" sz="2000"/>
              <a:t>Usuario Anónimo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Char char="◦"/>
            </a:pPr>
            <a:r>
              <a:rPr lang="en-US" sz="2000"/>
              <a:t>Usuario Registrado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Char char="◦"/>
            </a:pPr>
            <a:r>
              <a:rPr lang="en-US" sz="2000"/>
              <a:t>Servidor Externo (Banco)</a:t>
            </a:r>
            <a:endParaRPr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000"/>
              <a:buChar char=" "/>
            </a:pPr>
            <a:r>
              <a:rPr lang="en-US" sz="2000" b="1"/>
              <a:t>Identificar casos de uso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Char char="◦"/>
            </a:pPr>
            <a:r>
              <a:rPr lang="en-US" sz="2000"/>
              <a:t>Leer Artículo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Char char="◦"/>
            </a:pPr>
            <a:r>
              <a:rPr lang="en-US" sz="2000"/>
              <a:t>Descargar Artículo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Char char="◦"/>
            </a:pPr>
            <a:r>
              <a:rPr lang="en-US" sz="2000"/>
              <a:t>Registrarse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Char char="◦"/>
            </a:pPr>
            <a:r>
              <a:rPr lang="en-US" sz="2000"/>
              <a:t>Modificar Datos Personales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Char char="◦"/>
            </a:pPr>
            <a:r>
              <a:rPr lang="en-US" sz="2000"/>
              <a:t>Iniciar Sesión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Char char="◦"/>
            </a:pPr>
            <a:r>
              <a:rPr lang="en-US" sz="2000"/>
              <a:t>Cerrar Sesión</a:t>
            </a:r>
            <a:endParaRPr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Char char="◦"/>
            </a:pPr>
            <a:r>
              <a:rPr lang="en-US" sz="2000"/>
              <a:t>Verificar Tarjeta</a:t>
            </a:r>
            <a:endParaRPr/>
          </a:p>
        </p:txBody>
      </p:sp>
      <p:sp>
        <p:nvSpPr>
          <p:cNvPr id="598" name="Google Shape;598;p26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599" name="Google Shape;599;p26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 sz="1046">
                <a:solidFill>
                  <a:srgbClr val="FFFFFF"/>
                </a:solidFill>
              </a:rPr>
              <a:t>24</a:t>
            </a:fld>
            <a:endParaRPr sz="1046">
              <a:solidFill>
                <a:srgbClr val="FFFFFF"/>
              </a:solidFill>
            </a:endParaRPr>
          </a:p>
        </p:txBody>
      </p:sp>
      <p:sp>
        <p:nvSpPr>
          <p:cNvPr id="600" name="Google Shape;600;p26"/>
          <p:cNvSpPr/>
          <p:nvPr/>
        </p:nvSpPr>
        <p:spPr>
          <a:xfrm>
            <a:off x="695400" y="2852936"/>
            <a:ext cx="2736304" cy="432048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6"/>
          <p:cNvSpPr/>
          <p:nvPr/>
        </p:nvSpPr>
        <p:spPr>
          <a:xfrm>
            <a:off x="691983" y="5517232"/>
            <a:ext cx="2736304" cy="432048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6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2023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7"/>
          <p:cNvSpPr txBox="1">
            <a:spLocks noGrp="1"/>
          </p:cNvSpPr>
          <p:nvPr>
            <p:ph type="title"/>
          </p:nvPr>
        </p:nvSpPr>
        <p:spPr>
          <a:xfrm>
            <a:off x="793873" y="208557"/>
            <a:ext cx="8744022" cy="19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lang="en-US" sz="4000" b="1"/>
              <a:t>Casos de uso – Ejemplo - Diagrama</a:t>
            </a:r>
            <a:endParaRPr sz="4000" b="1"/>
          </a:p>
        </p:txBody>
      </p:sp>
      <p:sp>
        <p:nvSpPr>
          <p:cNvPr id="609" name="Google Shape;609;p27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610" name="Google Shape;610;p27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 sz="1046">
                <a:solidFill>
                  <a:srgbClr val="FFFFFF"/>
                </a:solidFill>
              </a:rPr>
              <a:t>25</a:t>
            </a:fld>
            <a:endParaRPr sz="1046">
              <a:solidFill>
                <a:srgbClr val="FFFFFF"/>
              </a:solidFill>
            </a:endParaRPr>
          </a:p>
        </p:txBody>
      </p:sp>
      <p:pic>
        <p:nvPicPr>
          <p:cNvPr id="611" name="Google Shape;61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7768" y="476672"/>
            <a:ext cx="65913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7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2023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8"/>
          <p:cNvSpPr txBox="1">
            <a:spLocks noGrp="1"/>
          </p:cNvSpPr>
          <p:nvPr>
            <p:ph type="title"/>
          </p:nvPr>
        </p:nvSpPr>
        <p:spPr>
          <a:xfrm>
            <a:off x="1097281" y="239191"/>
            <a:ext cx="10568771" cy="1882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lang="en-US" sz="4000" b="1"/>
              <a:t>Casos de uso – Ejemplo- Escenarios</a:t>
            </a:r>
            <a:endParaRPr sz="4000" b="1"/>
          </a:p>
        </p:txBody>
      </p:sp>
      <p:sp>
        <p:nvSpPr>
          <p:cNvPr id="622" name="Google Shape;622;p28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623" name="Google Shape;623;p28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 sz="1046">
                <a:solidFill>
                  <a:srgbClr val="FFFFFF"/>
                </a:solidFill>
              </a:rPr>
              <a:t>26</a:t>
            </a:fld>
            <a:endParaRPr sz="1046">
              <a:solidFill>
                <a:srgbClr val="FFFFFF"/>
              </a:solidFill>
            </a:endParaRPr>
          </a:p>
        </p:txBody>
      </p:sp>
      <p:graphicFrame>
        <p:nvGraphicFramePr>
          <p:cNvPr id="624" name="Google Shape;624;p28"/>
          <p:cNvGraphicFramePr/>
          <p:nvPr/>
        </p:nvGraphicFramePr>
        <p:xfrm>
          <a:off x="3071666" y="980730"/>
          <a:ext cx="6183300" cy="5451075"/>
        </p:xfrm>
        <a:graphic>
          <a:graphicData uri="http://schemas.openxmlformats.org/drawingml/2006/table">
            <a:tbl>
              <a:tblPr>
                <a:noFill/>
                <a:tableStyleId>{374BD2B4-C656-42CA-AF79-31C11DCC5942}</a:tableStyleId>
              </a:tblPr>
              <a:tblGrid>
                <a:gridCol w="170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9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Nombre del caso de uso:</a:t>
                      </a: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Iniciar sesión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Descripción: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 caso de uso describe el evento en el que un usuario registrado inicia sesión con su nombre de usuario y contraseña.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2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Actores: 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Usuario Registrado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2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Precondiciones:</a:t>
                      </a: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El usuario debe estar registrado en el sistema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950">
                <a:tc rowSpan="2">
                  <a:txBody>
                    <a:bodyPr/>
                    <a:lstStyle/>
                    <a:p>
                      <a:pPr marL="342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Curso Normal: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marR="0" lvl="0" indent="-34290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Acción del Actor</a:t>
                      </a:r>
                      <a:endParaRPr sz="12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Respuesta del Sistema</a:t>
                      </a:r>
                      <a:endParaRPr sz="1200" b="1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442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Paso 1</a:t>
                      </a:r>
                      <a:r>
                        <a:rPr lang="en-US" sz="12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: el usuario selecciona la opción de iniciar sesión.</a:t>
                      </a:r>
                      <a:endParaRPr sz="1400" u="none" strike="noStrike" cap="none"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Paso 3</a:t>
                      </a:r>
                      <a:r>
                        <a:rPr lang="en-US" sz="12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: el usuario ingresa el nombre de usuario.</a:t>
                      </a:r>
                      <a:endParaRPr sz="1400" u="none" strike="noStrike" cap="none"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Paso 4</a:t>
                      </a:r>
                      <a:r>
                        <a:rPr lang="en-US" sz="12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: el usuario ingresa la contraseña.</a:t>
                      </a:r>
                      <a:endParaRPr sz="1400" u="none" strike="noStrike" cap="none"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Paso 5</a:t>
                      </a:r>
                      <a:r>
                        <a:rPr lang="en-US" sz="12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: el usuario presiona ingresar.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Paso 2</a:t>
                      </a:r>
                      <a:r>
                        <a:rPr lang="en-US" sz="12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: el sistema presenta la pantalla donde se solicita al usuario y contraseña.</a:t>
                      </a:r>
                      <a:endParaRPr sz="1400" u="none" strike="noStrike" cap="none"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Paso 6</a:t>
                      </a:r>
                      <a:r>
                        <a:rPr lang="en-US" sz="12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: el sistema verifica el nombre de usuario y contraseña.</a:t>
                      </a:r>
                      <a:endParaRPr sz="1400" u="none" strike="noStrike" cap="none"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Paso 7</a:t>
                      </a:r>
                      <a:r>
                        <a:rPr lang="en-US" sz="12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: el sistema presenta la pantalla de sesión iniciada.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675">
                <a:tc>
                  <a:txBody>
                    <a:bodyPr/>
                    <a:lstStyle/>
                    <a:p>
                      <a:pPr marL="342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Curso Alterno: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Paso alternativo 6</a:t>
                      </a:r>
                      <a:r>
                        <a:rPr lang="en-US" sz="12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: el usuario o la contraseña no son válidas. Se notifica la discrepancia y se le pide nuevamente que ingrese dichos datos.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3850">
                <a:tc>
                  <a:txBody>
                    <a:bodyPr/>
                    <a:lstStyle/>
                    <a:p>
                      <a:pPr marL="342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Postcondición: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La sesión ha sido iniciada exitosamente y las opciones para usuarios registrados aparecen habilitadas.</a:t>
                      </a:r>
                      <a:endParaRPr sz="12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8575" marR="28575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25" name="Google Shape;625;p28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2023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9"/>
          <p:cNvSpPr txBox="1">
            <a:spLocks noGrp="1"/>
          </p:cNvSpPr>
          <p:nvPr>
            <p:ph type="title"/>
          </p:nvPr>
        </p:nvSpPr>
        <p:spPr>
          <a:xfrm>
            <a:off x="1385400" y="403532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 sz="4400" b="1"/>
              <a:t>Bibliografía</a:t>
            </a:r>
            <a:endParaRPr sz="4400" b="1"/>
          </a:p>
        </p:txBody>
      </p:sp>
      <p:sp>
        <p:nvSpPr>
          <p:cNvPr id="631" name="Google Shape;631;p29"/>
          <p:cNvSpPr txBox="1">
            <a:spLocks noGrp="1"/>
          </p:cNvSpPr>
          <p:nvPr>
            <p:ph type="body" idx="1"/>
          </p:nvPr>
        </p:nvSpPr>
        <p:spPr>
          <a:xfrm>
            <a:off x="1847529" y="1845734"/>
            <a:ext cx="8043232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Libros Utilizados</a:t>
            </a:r>
            <a:endParaRPr/>
          </a:p>
          <a:p>
            <a:pPr marL="411480" lvl="0" indent="-2159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sz="2000"/>
          </a:p>
          <a:p>
            <a:pPr marL="346329" lvl="1" indent="-3429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Noto Sans Symbols"/>
              <a:buChar char="▪"/>
            </a:pPr>
            <a:r>
              <a:rPr lang="en-US" sz="2000"/>
              <a:t>Sommerville Ian,  Capítulos 4, Ingeniería de software, Addison Wesley 2011</a:t>
            </a:r>
            <a:endParaRPr sz="2000"/>
          </a:p>
          <a:p>
            <a:pPr marL="346329" lvl="1" indent="-3429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Noto Sans Symbols"/>
              <a:buChar char="▪"/>
            </a:pPr>
            <a:r>
              <a:rPr lang="en-US" sz="2000"/>
              <a:t>Whitten y Bentley, Análisis de Sistemas Diseño y Métodos, Capítulo 6, Mc Graw Hill 2008.</a:t>
            </a:r>
            <a:endParaRPr/>
          </a:p>
          <a:p>
            <a:pPr marL="473329" lvl="1" indent="-2159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Noto Sans Symbols"/>
              <a:buNone/>
            </a:pPr>
            <a:endParaRPr sz="2000"/>
          </a:p>
          <a:p>
            <a:pPr marL="411480" lvl="0" indent="-2159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sz="2000"/>
          </a:p>
          <a:p>
            <a:pPr marL="411480" lvl="0" indent="-2159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sz="2000"/>
          </a:p>
          <a:p>
            <a:pPr marL="473329" lvl="1" indent="-2159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Noto Sans Symbols"/>
              <a:buNone/>
            </a:pPr>
            <a:endParaRPr sz="2000"/>
          </a:p>
        </p:txBody>
      </p:sp>
      <p:sp>
        <p:nvSpPr>
          <p:cNvPr id="632" name="Google Shape;632;p29"/>
          <p:cNvSpPr txBox="1">
            <a:spLocks noGrp="1"/>
          </p:cNvSpPr>
          <p:nvPr>
            <p:ph type="ftr" idx="11"/>
          </p:nvPr>
        </p:nvSpPr>
        <p:spPr>
          <a:xfrm>
            <a:off x="6671735" y="630873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</a:t>
            </a:r>
            <a:endParaRPr/>
          </a:p>
        </p:txBody>
      </p:sp>
      <p:sp>
        <p:nvSpPr>
          <p:cNvPr id="633" name="Google Shape;633;p29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</a:pPr>
            <a:fld id="{00000000-1234-1234-1234-123412341234}" type="slidenum">
              <a:rPr lang="en-US" sz="7694">
                <a:solidFill>
                  <a:srgbClr val="FFFFFF"/>
                </a:solidFill>
              </a:rPr>
              <a:t>27</a:t>
            </a:fld>
            <a:endParaRPr sz="7694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Retrospección">
  <a:themeElements>
    <a:clrScheme name="Personalizado 1">
      <a:dk1>
        <a:srgbClr val="0C0C0C"/>
      </a:dk1>
      <a:lt1>
        <a:srgbClr val="FFFFFF"/>
      </a:lt1>
      <a:dk2>
        <a:srgbClr val="3F3F3F"/>
      </a:dk2>
      <a:lt2>
        <a:srgbClr val="E4E9EF"/>
      </a:lt2>
      <a:accent1>
        <a:srgbClr val="54747B"/>
      </a:accent1>
      <a:accent2>
        <a:srgbClr val="8D1532"/>
      </a:accent2>
      <a:accent3>
        <a:srgbClr val="ADD6FF"/>
      </a:accent3>
      <a:accent4>
        <a:srgbClr val="846648"/>
      </a:accent4>
      <a:accent5>
        <a:srgbClr val="AAD957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1880</Words>
  <Application>Microsoft Office PowerPoint</Application>
  <PresentationFormat>Panorámica</PresentationFormat>
  <Paragraphs>304</Paragraphs>
  <Slides>27</Slides>
  <Notes>27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28" baseType="lpstr">
      <vt:lpstr>2_Retrospección</vt:lpstr>
      <vt:lpstr>Ingeniería de Software I </vt:lpstr>
      <vt:lpstr>Técnicas de Especificación de Requerimientos</vt:lpstr>
      <vt:lpstr>Casos de Uso - Definición</vt:lpstr>
      <vt:lpstr>Casos de Uso - Beneficios</vt:lpstr>
      <vt:lpstr>Casos de Uso – Componentes</vt:lpstr>
      <vt:lpstr>Casos de Uso – Diagrama</vt:lpstr>
      <vt:lpstr>Casos de Uso  - Diagrama </vt:lpstr>
      <vt:lpstr>Casos de Uso – Diagrama</vt:lpstr>
      <vt:lpstr>Casos de Uso – Diagrama</vt:lpstr>
      <vt:lpstr>Casos de Uso - Diagrama</vt:lpstr>
      <vt:lpstr>Casos de Uso - Diagrama</vt:lpstr>
      <vt:lpstr>Casos de Uso – Diagrama</vt:lpstr>
      <vt:lpstr>Casos de Uso - Diagrama</vt:lpstr>
      <vt:lpstr>Casos de Uso - Diagrama</vt:lpstr>
      <vt:lpstr>Casos de Uso - Escenarios</vt:lpstr>
      <vt:lpstr>Casos de Uso  -  Ejemplo de escenario</vt:lpstr>
      <vt:lpstr>Casos de Uso – Proceso de modelado</vt:lpstr>
      <vt:lpstr>Casos de Uso – Proceso de modelado</vt:lpstr>
      <vt:lpstr>Casos de Uso – Proceso de modelado</vt:lpstr>
      <vt:lpstr>Casos de Uso – Características importantes</vt:lpstr>
      <vt:lpstr>Casos de Uso – Ejemplo</vt:lpstr>
      <vt:lpstr>Casos de Uso – Ejemplo - Actores</vt:lpstr>
      <vt:lpstr>Casos de Uso – Ejemplo – Casos de Uso </vt:lpstr>
      <vt:lpstr>Casos de Uso – Ejemplo</vt:lpstr>
      <vt:lpstr>Casos de uso – Ejemplo - Diagrama</vt:lpstr>
      <vt:lpstr>Casos de uso – Ejemplo- Escenarios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Software I</dc:title>
  <dc:creator>Ariel</dc:creator>
  <cp:lastModifiedBy>Silvia Esponda</cp:lastModifiedBy>
  <cp:revision>9</cp:revision>
  <dcterms:created xsi:type="dcterms:W3CDTF">2011-08-01T13:16:26Z</dcterms:created>
  <dcterms:modified xsi:type="dcterms:W3CDTF">2023-09-15T17:52:11Z</dcterms:modified>
</cp:coreProperties>
</file>