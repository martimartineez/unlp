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10E95-D66B-4228-8578-50D74B92B4A3}" type="datetimeFigureOut">
              <a:rPr lang="es-AR" smtClean="0"/>
              <a:t>9/2/2021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88108-3BE5-46F4-993D-7E56C0B993F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935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C61D-0783-4BD5-819B-CDB7B680A935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C314-5190-4405-9341-3D05A813C598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0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9086-6FFD-48E0-8C04-8D2576EADFD1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8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7FB-745E-4DC6-B265-B967B4BC46AC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0AE7-68A9-4207-8500-9D736A66FFFB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9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17C45-E817-4CBA-92FA-0049F62A7317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1DC9-BA9D-4D98-B533-4F764416C0F0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463C-BD3C-437F-8086-678A73ED95C4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6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E8A5-0CA9-4CB3-9EB4-EFE457B4EA82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3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C0E8-5735-4EE0-B667-19C7FD4F6256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7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017D-5F3C-4B2D-8C4D-0AF9E146B18A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902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56A9-1F1E-4902-A62B-02E52B95C583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46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635-94CD-44BB-8729-62EB8E6B6BFD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839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ED2C-9D3B-4510-81D0-91CB8C101CC9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92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F9E3E-C8E5-47CD-AD27-0776D0DDF4F3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4BB3-F2E7-4921-95DF-CCB5E7ED67B5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9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B05F-91BE-40B7-9A92-CA1D08D9C2D2}" type="datetime1">
              <a:rPr lang="en-US" smtClean="0"/>
              <a:t>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0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4EAAC-B572-4A8F-81E4-979D7F7CD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CAPÍTULO 3: </a:t>
            </a:r>
            <a:br>
              <a:rPr lang="es-ES" dirty="0"/>
            </a:br>
            <a:r>
              <a:rPr lang="es-ES" dirty="0"/>
              <a:t>Polinomios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63E1E-C94E-4130-B324-708407550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Producto</a:t>
            </a:r>
          </a:p>
          <a:p>
            <a:r>
              <a:rPr lang="es-ES" dirty="0"/>
              <a:t>División</a:t>
            </a:r>
          </a:p>
          <a:p>
            <a:r>
              <a:rPr lang="es-AR" dirty="0"/>
              <a:t>Divisibilidad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B66E1F-5053-4360-8541-BA278865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1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B9412-8947-4D4F-B4F3-86F4D2D1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Producto de polinomios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020466-895A-473D-8F96-8C77E73F0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9303" y="1386349"/>
                <a:ext cx="10874478" cy="5385926"/>
              </a:xfrm>
            </p:spPr>
            <p:txBody>
              <a:bodyPr>
                <a:normAutofit/>
              </a:bodyPr>
              <a:lstStyle/>
              <a:p>
                <a:r>
                  <a:rPr lang="es-ES" dirty="0"/>
                  <a:t>Si multiplicamos el polinomio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con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s-ES" dirty="0"/>
                  <a:t>nos da otro polinomio</a:t>
                </a:r>
              </a:p>
              <a:p>
                <a:r>
                  <a:rPr lang="es-ES" dirty="0"/>
                  <a:t>Si no son nulos,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𝑔𝑟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)) =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𝑔𝑟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)) +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𝑔𝑟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s-ES" dirty="0"/>
              </a:p>
              <a:p>
                <a:r>
                  <a:rPr lang="es-ES" i="1" dirty="0"/>
                  <a:t>Ejemplo: </a:t>
                </a:r>
                <a:r>
                  <a:rPr lang="es-ES" dirty="0"/>
                  <a:t>Multipliquemos los siguientes polinomios:</a:t>
                </a:r>
              </a:p>
              <a:p>
                <a:pPr marL="0" indent="0">
                  <a:buNone/>
                </a:pP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 dirty="0" smtClean="0">
                        <a:latin typeface="Cambria Math" panose="02040503050406030204" pitchFamily="18" charset="0"/>
                      </a:rPr>
                      <m:t>= 3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– 5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+ 3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+ 2</m:t>
                    </m:r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)= 2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+ 4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– 5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− 1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baseline="30000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Verifiquemos la propiedad de los grados!</a:t>
                </a:r>
              </a:p>
              <a:p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 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5020466-895A-473D-8F96-8C77E73F0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9303" y="1386349"/>
                <a:ext cx="10874478" cy="5385926"/>
              </a:xfrm>
              <a:blipFill>
                <a:blip r:embed="rId2"/>
                <a:stretch>
                  <a:fillRect l="-392" t="-56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851108-2799-4F1E-B4C6-97B40F81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600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7C34C-1DCF-442E-A2DB-9AC525A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Algoritmo de la División</a:t>
            </a:r>
            <a:endParaRPr lang="es-A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CF85C0-B268-4400-A81B-1F82D867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Matemática</a:t>
            </a:r>
            <a:r>
              <a:rPr lang="en-US" dirty="0"/>
              <a:t> 0. </a:t>
            </a:r>
            <a:r>
              <a:rPr lang="en-US" dirty="0" err="1"/>
              <a:t>Facultad</a:t>
            </a:r>
            <a:r>
              <a:rPr lang="en-US" dirty="0"/>
              <a:t> de </a:t>
            </a:r>
            <a:r>
              <a:rPr lang="en-US" dirty="0" err="1"/>
              <a:t>Informática</a:t>
            </a:r>
            <a:r>
              <a:rPr lang="en-US" dirty="0"/>
              <a:t>. U.N.L.P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contenido 7">
                <a:extLst>
                  <a:ext uri="{FF2B5EF4-FFF2-40B4-BE49-F238E27FC236}">
                    <a16:creationId xmlns:a16="http://schemas.microsoft.com/office/drawing/2014/main" id="{B05B2124-91E3-4220-B9E0-4F1E3B907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304925"/>
                <a:ext cx="8915400" cy="460629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Recordemos el algoritmo de la división </a:t>
                </a:r>
                <a:r>
                  <a:rPr lang="es-ES" b="1" dirty="0"/>
                  <a:t>para números enteros</a:t>
                </a:r>
                <a:r>
                  <a:rPr lang="es-ES" dirty="0"/>
                  <a:t>:</a:t>
                </a:r>
              </a:p>
              <a:p>
                <a:pPr marL="0" indent="0">
                  <a:buNone/>
                </a:pPr>
                <a:r>
                  <a:rPr lang="es-ES" dirty="0"/>
                  <a:t>Sean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Є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con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s-ES" dirty="0"/>
                  <a:t>, existen enteros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ES" dirty="0"/>
                  <a:t> tales que </a:t>
                </a:r>
              </a:p>
              <a:p>
                <a:pPr marL="0" indent="0">
                  <a:buNone/>
                </a:pPr>
                <a:r>
                  <a:rPr lang="es-ES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i="0" dirty="0">
                    <a:latin typeface="+mj-lt"/>
                  </a:rPr>
                  <a:t>con</a:t>
                </a:r>
                <a14:m>
                  <m:oMath xmlns:m="http://schemas.openxmlformats.org/officeDocument/2006/math"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&lt; |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i="1" dirty="0"/>
                  <a:t>Ejemplo: </a:t>
                </a:r>
                <a:r>
                  <a:rPr lang="es-ES" dirty="0"/>
                  <a:t>23 = 7.3 + 2</a:t>
                </a:r>
              </a:p>
              <a:p>
                <a:r>
                  <a:rPr lang="es-ES" b="1" dirty="0"/>
                  <a:t>En polinomios</a:t>
                </a:r>
                <a:r>
                  <a:rPr lang="es-ES" dirty="0"/>
                  <a:t>, es igual!</a:t>
                </a:r>
              </a:p>
              <a:p>
                <a:pPr marL="0" indent="0">
                  <a:buNone/>
                </a:pPr>
                <a:r>
                  <a:rPr lang="es-ES" dirty="0"/>
                  <a:t>Dados dos polinomios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con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≠ 0(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s-ES" dirty="0"/>
                  <a:t>existen y son únicos dos polinomios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tales que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).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0 ≤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𝑔𝑟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)) &lt;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𝑔𝑟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Nombres: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es el </a:t>
                </a:r>
                <a:r>
                  <a:rPr lang="es-ES" b="1" dirty="0"/>
                  <a:t>dividendo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 es el </a:t>
                </a:r>
                <a:r>
                  <a:rPr lang="es-ES" b="1" dirty="0"/>
                  <a:t>divisor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es el </a:t>
                </a:r>
                <a:r>
                  <a:rPr lang="es-ES" b="1" dirty="0"/>
                  <a:t>cociente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es el </a:t>
                </a:r>
                <a:r>
                  <a:rPr lang="es-ES" b="1" dirty="0"/>
                  <a:t>resto</a:t>
                </a:r>
              </a:p>
            </p:txBody>
          </p:sp>
        </mc:Choice>
        <mc:Fallback>
          <p:sp>
            <p:nvSpPr>
              <p:cNvPr id="8" name="Marcador de contenido 7">
                <a:extLst>
                  <a:ext uri="{FF2B5EF4-FFF2-40B4-BE49-F238E27FC236}">
                    <a16:creationId xmlns:a16="http://schemas.microsoft.com/office/drawing/2014/main" id="{B05B2124-91E3-4220-B9E0-4F1E3B907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304925"/>
                <a:ext cx="8915400" cy="4606297"/>
              </a:xfrm>
              <a:blipFill>
                <a:blip r:embed="rId2"/>
                <a:stretch>
                  <a:fillRect l="-2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35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48AF5-C3A7-4817-AA4B-18729417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ejemplo de división 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F4CE540-E89E-42DE-8E82-AE38410DF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17737" y="1264554"/>
                <a:ext cx="8911687" cy="4698095"/>
              </a:xfrm>
            </p:spPr>
            <p:txBody>
              <a:bodyPr>
                <a:normAutofit/>
              </a:bodyPr>
              <a:lstStyle/>
              <a:p>
                <a:endParaRPr lang="es-ES" dirty="0"/>
              </a:p>
              <a:p>
                <a:r>
                  <a:rPr lang="es-ES" i="1" dirty="0"/>
                  <a:t>Ejemplo:</a:t>
                </a:r>
                <a:r>
                  <a:rPr lang="es-ES" dirty="0"/>
                  <a:t> Dividamos los siguientes polinomios:</a:t>
                </a:r>
              </a:p>
              <a:p>
                <a:pPr marL="0" indent="0">
                  <a:buNone/>
                </a:pP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 dirty="0" smtClean="0">
                        <a:latin typeface="Cambria Math" panose="02040503050406030204" pitchFamily="18" charset="0"/>
                      </a:rPr>
                      <m:t>= 3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– 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s-ES" dirty="0"/>
              </a:p>
              <a:p>
                <a:endParaRPr lang="es-AR" i="1" dirty="0"/>
              </a:p>
              <a:p>
                <a:endParaRPr lang="es-AR" i="1" dirty="0"/>
              </a:p>
              <a:p>
                <a:pPr marL="0" indent="0">
                  <a:buNone/>
                </a:pPr>
                <a:endParaRPr lang="es-AR" i="1" dirty="0"/>
              </a:p>
              <a:p>
                <a:pPr marL="0" indent="0">
                  <a:buNone/>
                </a:pPr>
                <a:endParaRPr lang="es-AR" i="1" dirty="0"/>
              </a:p>
              <a:p>
                <a:endParaRPr lang="es-AR" i="1" dirty="0"/>
              </a:p>
              <a:p>
                <a:pPr marL="0" indent="0">
                  <a:buNone/>
                </a:pPr>
                <a:endParaRPr lang="es-AR" i="1" dirty="0"/>
              </a:p>
              <a:p>
                <a:r>
                  <a:rPr lang="es-AR" i="1" dirty="0"/>
                  <a:t>Pregunta: </a:t>
                </a:r>
                <a:r>
                  <a:rPr lang="es-AR" dirty="0"/>
                  <a:t>¿Cómo planteamos acá el algoritmo de la división?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F4CE540-E89E-42DE-8E82-AE38410DF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7737" y="1264554"/>
                <a:ext cx="8911687" cy="4698095"/>
              </a:xfrm>
              <a:blipFill>
                <a:blip r:embed="rId2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B7EE3C-4483-4370-BD80-0D628808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1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DAE1A-1FB2-435A-B239-7FC72167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40417"/>
            <a:ext cx="8911687" cy="1280890"/>
          </a:xfrm>
        </p:spPr>
        <p:txBody>
          <a:bodyPr/>
          <a:lstStyle/>
          <a:p>
            <a:r>
              <a:rPr lang="es-ES" dirty="0"/>
              <a:t>Otro ejemplo de división (con racionales!!!)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9C5AD-4730-4665-A729-921F88519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s-ES" dirty="0"/>
              </a:p>
              <a:p>
                <a:r>
                  <a:rPr lang="es-ES" i="1" dirty="0"/>
                  <a:t>Ejemplo 2:</a:t>
                </a:r>
                <a:r>
                  <a:rPr lang="es-ES" dirty="0"/>
                  <a:t> Dividamos ahora los siguientes polinomios:</a:t>
                </a:r>
              </a:p>
              <a:p>
                <a:pPr marL="0" indent="0">
                  <a:buNone/>
                </a:pP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s-ES" b="0" i="0" dirty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9C5AD-4730-4665-A729-921F88519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335B46-D6CF-4FB4-A0FD-09EDC63A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21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228A4-FE52-49D2-BE4D-97E088EA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Divisibilidad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BB0573-C035-4D5E-BF75-0175B1950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Si hacemos una división de polinomios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y nos da que el resto es 0, decimos que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es </a:t>
                </a:r>
                <a:r>
                  <a:rPr lang="es-ES" b="1" dirty="0"/>
                  <a:t>divisible</a:t>
                </a:r>
                <a:r>
                  <a:rPr lang="es-ES" dirty="0"/>
                  <a:t> por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i="1" dirty="0"/>
                  <a:t>Observación: </a:t>
                </a:r>
                <a:r>
                  <a:rPr lang="es-ES" dirty="0"/>
                  <a:t>en el caso anterior, también se dice que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divide a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Pensando en el Algoritmo de la División:</a:t>
                </a:r>
              </a:p>
              <a:p>
                <a:pPr marL="0" indent="0">
                  <a:buNone/>
                </a:pPr>
                <a:r>
                  <a:rPr lang="es-ES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s-ES" i="1" strike="sngStrike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ES" i="1" strike="sngStrike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strike="sngStrike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strike="sngStrike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strike="sngStrike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s-ES" strike="sngStrike" dirty="0"/>
              </a:p>
              <a:p>
                <a:r>
                  <a:rPr lang="es-ES" i="1" dirty="0"/>
                  <a:t>Pregunta: </a:t>
                </a:r>
                <a:r>
                  <a:rPr lang="es-ES" dirty="0"/>
                  <a:t>¿Hay polinomios divisibles en los ejemplos anteriores?</a:t>
                </a:r>
                <a:endParaRPr lang="es-ES" strike="sngStrike" dirty="0"/>
              </a:p>
              <a:p>
                <a:pPr marL="0" indent="0">
                  <a:buNone/>
                </a:pPr>
                <a:endParaRPr lang="es-ES" strike="sngStrike" dirty="0"/>
              </a:p>
              <a:p>
                <a:pPr marL="0" indent="0">
                  <a:buNone/>
                </a:pPr>
                <a:endParaRPr lang="es-ES" strike="sngStrike" dirty="0"/>
              </a:p>
              <a:p>
                <a:pPr marL="0" indent="0">
                  <a:buNone/>
                </a:pPr>
                <a:endParaRPr lang="es-ES" strike="sngStrike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BB0573-C035-4D5E-BF75-0175B1950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647F3B-F1E6-4E69-88FC-E15AA379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9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CC5AA-21E4-49C2-8626-C81D081F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 de raíz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047589-DED8-43A3-8022-A48772BB8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ES" i="1" dirty="0"/>
                  <a:t>Definición: </a:t>
                </a:r>
                <a:r>
                  <a:rPr lang="es-ES" dirty="0"/>
                  <a:t>Si la división entre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y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ES" dirty="0"/>
                  <a:t> es cero, decimos que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s-ES" b="1" dirty="0"/>
                  <a:t> es raíz del polinomio </a:t>
                </a:r>
                <a14:m>
                  <m:oMath xmlns:m="http://schemas.openxmlformats.org/officeDocument/2006/math"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s-ES" b="1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s-ES" b="1" dirty="0"/>
              </a:p>
              <a:p>
                <a:r>
                  <a:rPr lang="es-ES" dirty="0"/>
                  <a:t>Si tenemos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dirty="0"/>
                  <a:t>como antes, en este caso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ES" dirty="0"/>
                  <a:t>, por lo que</a:t>
                </a:r>
              </a:p>
              <a:p>
                <a:pPr marL="0" indent="0">
                  <a:buNone/>
                </a:pPr>
                <a:r>
                  <a:rPr lang="es-ES" dirty="0"/>
                  <a:t>                        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Al reemplazar donde dice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por el valor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ES" dirty="0"/>
                  <a:t>, obtenemos:</a:t>
                </a:r>
              </a:p>
              <a:p>
                <a:pPr marL="0" indent="0">
                  <a:buNone/>
                </a:pPr>
                <a:r>
                  <a:rPr lang="es-ES" dirty="0"/>
                  <a:t>                        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).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0.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lang="es-ES" dirty="0"/>
                  <a:t>.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i="1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dirty="0"/>
                  <a:t> es raíz del polinomio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+2 = 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−2).(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Pues donde dice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reemplazamos por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ES" dirty="0"/>
                  <a:t> y obtenemos: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(2) = (2−2).(2−1) = 0.1 = 0.</m:t>
                      </m:r>
                    </m:oMath>
                  </m:oMathPara>
                </a14:m>
                <a:endParaRPr lang="es-ES" strike="sngStrike" dirty="0"/>
              </a:p>
              <a:p>
                <a:pPr marL="0" indent="0">
                  <a:buNone/>
                </a:pPr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C047589-DED8-43A3-8022-A48772BB8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1613" r="-137" b="-1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F8F936-CF6C-4142-83CE-0766F895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972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</TotalTime>
  <Words>711</Words>
  <Application>Microsoft Office PowerPoint</Application>
  <PresentationFormat>Panorámica</PresentationFormat>
  <Paragraphs>85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Century Gothic</vt:lpstr>
      <vt:lpstr>Wingdings 3</vt:lpstr>
      <vt:lpstr>Espiral</vt:lpstr>
      <vt:lpstr>CAPÍTULO 3:  Polinomios</vt:lpstr>
      <vt:lpstr>Producto de polinomios</vt:lpstr>
      <vt:lpstr>Algoritmo de la División</vt:lpstr>
      <vt:lpstr>Un ejemplo de división </vt:lpstr>
      <vt:lpstr>Otro ejemplo de división (con racionales!!!)</vt:lpstr>
      <vt:lpstr>Divisibilidad</vt:lpstr>
      <vt:lpstr>Concepto de raíz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3:  Expresiones Algebraicas</dc:title>
  <dc:creator>Maria Mercedes Olea</dc:creator>
  <cp:lastModifiedBy>María Mercedes Olea</cp:lastModifiedBy>
  <cp:revision>29</cp:revision>
  <dcterms:created xsi:type="dcterms:W3CDTF">2021-01-28T00:31:04Z</dcterms:created>
  <dcterms:modified xsi:type="dcterms:W3CDTF">2021-02-09T21:48:46Z</dcterms:modified>
</cp:coreProperties>
</file>