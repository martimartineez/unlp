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7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2" r:id="rId6"/>
    <p:sldId id="260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410E95-D66B-4228-8578-50D74B92B4A3}" type="datetimeFigureOut">
              <a:rPr lang="es-AR" smtClean="0"/>
              <a:t>11/2/2021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88108-3BE5-46F4-993D-7E56C0B993F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935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DC61D-0783-4BD5-819B-CDB7B680A935}" type="datetime1">
              <a:rPr lang="en-US" smtClean="0"/>
              <a:t>2/11/2021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9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4C314-5190-4405-9341-3D05A813C598}" type="datetime1">
              <a:rPr lang="en-US" smtClean="0"/>
              <a:t>2/11/2021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400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9086-6FFD-48E0-8C04-8D2576EADFD1}" type="datetime1">
              <a:rPr lang="en-US" smtClean="0"/>
              <a:t>2/11/2021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887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77FB-745E-4DC6-B265-B967B4BC46AC}" type="datetime1">
              <a:rPr lang="en-US" smtClean="0"/>
              <a:t>2/11/2021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492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40AE7-68A9-4207-8500-9D736A66FFFB}" type="datetime1">
              <a:rPr lang="en-US" smtClean="0"/>
              <a:t>2/11/2021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293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17C45-E817-4CBA-92FA-0049F62A7317}" type="datetime1">
              <a:rPr lang="en-US" smtClean="0"/>
              <a:t>2/11/2021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394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01DC9-BA9D-4D98-B533-4F764416C0F0}" type="datetime1">
              <a:rPr lang="en-US" smtClean="0"/>
              <a:t>2/11/2021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366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463C-BD3C-437F-8086-678A73ED95C4}" type="datetime1">
              <a:rPr lang="en-US" smtClean="0"/>
              <a:t>2/11/2021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062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E8A5-0CA9-4CB3-9EB4-EFE457B4EA82}" type="datetime1">
              <a:rPr lang="en-US" smtClean="0"/>
              <a:t>2/11/2021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38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6C0E8-5735-4EE0-B667-19C7FD4F6256}" type="datetime1">
              <a:rPr lang="en-US" smtClean="0"/>
              <a:t>2/11/2021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871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0017D-5F3C-4B2D-8C4D-0AF9E146B18A}" type="datetime1">
              <a:rPr lang="en-US" smtClean="0"/>
              <a:t>2/11/2021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2902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056A9-1F1E-4902-A62B-02E52B95C583}" type="datetime1">
              <a:rPr lang="en-US" smtClean="0"/>
              <a:t>2/11/2021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646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75635-94CD-44BB-8729-62EB8E6B6BFD}" type="datetime1">
              <a:rPr lang="en-US" smtClean="0"/>
              <a:t>2/11/2021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8839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6ED2C-9D3B-4510-81D0-91CB8C101CC9}" type="datetime1">
              <a:rPr lang="en-US" smtClean="0"/>
              <a:t>2/11/2021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092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F9E3E-C8E5-47CD-AD27-0776D0DDF4F3}" type="datetime1">
              <a:rPr lang="en-US" smtClean="0"/>
              <a:t>2/11/2021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161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A4BB3-F2E7-4921-95DF-CCB5E7ED67B5}" type="datetime1">
              <a:rPr lang="en-US" smtClean="0"/>
              <a:t>2/11/2021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890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BB05F-91BE-40B7-9A92-CA1D08D9C2D2}" type="datetime1">
              <a:rPr lang="en-US" smtClean="0"/>
              <a:t>2/11/2021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Matemática 0. Facultad de Informática. U.N.L.P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206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4EAAC-B572-4A8F-81E4-979D7F7CD5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CAPÍTULO 3: </a:t>
            </a:r>
            <a:br>
              <a:rPr lang="es-ES" dirty="0"/>
            </a:br>
            <a:r>
              <a:rPr lang="es-ES" dirty="0"/>
              <a:t>Factorización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E63E1E-C94E-4130-B324-7084075502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dirty="0"/>
              <a:t>Factor común</a:t>
            </a:r>
          </a:p>
          <a:p>
            <a:r>
              <a:rPr lang="es-ES" dirty="0"/>
              <a:t>Factor común en grupos</a:t>
            </a:r>
          </a:p>
          <a:p>
            <a:r>
              <a:rPr lang="es-AR" dirty="0"/>
              <a:t>Diferencia de cuadrados</a:t>
            </a:r>
          </a:p>
          <a:p>
            <a:r>
              <a:rPr lang="es-AR" dirty="0"/>
              <a:t>Trinomio cuadrado perfecto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EB66E1F-5053-4360-8541-BA278865D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218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BB9412-8947-4D4F-B4F3-86F4D2D10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 factorizar?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020466-895A-473D-8F96-8C77E73F0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9303" y="1386349"/>
            <a:ext cx="9705309" cy="4966826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En números reales: cualquier número puede ser escrito como producto de primos.</a:t>
            </a:r>
          </a:p>
          <a:p>
            <a:pPr marL="0" indent="0">
              <a:buNone/>
            </a:pPr>
            <a:r>
              <a:rPr lang="es-ES" i="1" dirty="0"/>
              <a:t>Ejemplo: </a:t>
            </a:r>
            <a:r>
              <a:rPr lang="es-ES" dirty="0"/>
              <a:t>24 = 2</a:t>
            </a:r>
            <a:r>
              <a:rPr lang="es-ES" baseline="30000" dirty="0"/>
              <a:t>3</a:t>
            </a:r>
            <a:r>
              <a:rPr lang="es-ES" dirty="0"/>
              <a:t>.3</a:t>
            </a:r>
            <a:endParaRPr lang="es-ES" i="1" dirty="0"/>
          </a:p>
          <a:p>
            <a:pPr marL="0" indent="0">
              <a:buNone/>
            </a:pPr>
            <a:r>
              <a:rPr lang="es-ES" dirty="0"/>
              <a:t> </a:t>
            </a:r>
          </a:p>
          <a:p>
            <a:r>
              <a:rPr lang="es-ES" dirty="0"/>
              <a:t> En polinomios: Dado P(x) se puede descomponer como producto de polinomios primos. 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i="1" dirty="0"/>
              <a:t>Definición 1: </a:t>
            </a:r>
            <a:r>
              <a:rPr lang="es-ES" dirty="0"/>
              <a:t>Un polinomio P(x) de grado no nulo es </a:t>
            </a:r>
            <a:r>
              <a:rPr lang="es-ES" b="1" dirty="0"/>
              <a:t>primo</a:t>
            </a:r>
            <a:r>
              <a:rPr lang="es-ES" dirty="0"/>
              <a:t> (o irreducible)cuando no puede ser expresado como producto de polinomios de grado menor al gr(P(x)).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i="1" dirty="0"/>
              <a:t>Definición 2: </a:t>
            </a:r>
            <a:r>
              <a:rPr lang="es-ES" b="1" dirty="0"/>
              <a:t>Factorizar</a:t>
            </a:r>
            <a:r>
              <a:rPr lang="es-ES" dirty="0"/>
              <a:t> un polinomio es expresarlo como producto de polinomios primos (o irreducibles).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Para eso, debemos tener en cuenta las siguientes técnicas de </a:t>
            </a:r>
            <a:r>
              <a:rPr lang="es-ES" dirty="0" err="1"/>
              <a:t>factoreo</a:t>
            </a:r>
            <a:r>
              <a:rPr lang="es-ES" dirty="0"/>
              <a:t>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s-ES" dirty="0"/>
              <a:t>Factor común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s-ES" dirty="0"/>
              <a:t>Factor común en grupos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s-ES" dirty="0"/>
              <a:t>Diferencia de cuadrados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s-ES" dirty="0"/>
              <a:t>Trinomio cuadrado perfecto</a:t>
            </a:r>
          </a:p>
          <a:p>
            <a:pPr marL="0" indent="0">
              <a:buNone/>
            </a:pPr>
            <a:endParaRPr lang="es-ES" dirty="0"/>
          </a:p>
          <a:p>
            <a:pPr>
              <a:buFont typeface="Courier New" panose="02070309020205020404" pitchFamily="49" charset="0"/>
              <a:buChar char="o"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D851108-2799-4F1E-B4C6-97B40F81C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600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7C34C-1DCF-442E-A2DB-9AC525AA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Factor Común</a:t>
            </a:r>
            <a:endParaRPr lang="es-AR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CF85C0-B268-4400-A81B-1F82D8674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Matemática</a:t>
            </a:r>
            <a:r>
              <a:rPr lang="en-US" dirty="0"/>
              <a:t> 0. </a:t>
            </a:r>
            <a:r>
              <a:rPr lang="en-US" dirty="0" err="1"/>
              <a:t>Facultad</a:t>
            </a:r>
            <a:r>
              <a:rPr lang="en-US" dirty="0"/>
              <a:t> de </a:t>
            </a:r>
            <a:r>
              <a:rPr lang="en-US" dirty="0" err="1"/>
              <a:t>Informática</a:t>
            </a:r>
            <a:r>
              <a:rPr lang="en-US" dirty="0"/>
              <a:t>. U.N.L.P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Marcador de contenido 7">
                <a:extLst>
                  <a:ext uri="{FF2B5EF4-FFF2-40B4-BE49-F238E27FC236}">
                    <a16:creationId xmlns:a16="http://schemas.microsoft.com/office/drawing/2014/main" id="{B05B2124-91E3-4220-B9E0-4F1E3B9073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304925"/>
                <a:ext cx="8915400" cy="4606297"/>
              </a:xfrm>
            </p:spPr>
            <p:txBody>
              <a:bodyPr>
                <a:normAutofit/>
              </a:bodyPr>
              <a:lstStyle/>
              <a:p>
                <a:endParaRPr lang="es-ES" dirty="0"/>
              </a:p>
              <a:p>
                <a:r>
                  <a:rPr lang="es-ES" dirty="0"/>
                  <a:t>Para poder usar este caso, debe haber en común un número y/o una variable en todos los términos del polinomio.</a:t>
                </a:r>
              </a:p>
              <a:p>
                <a:pPr marL="0" indent="0">
                  <a:buNone/>
                </a:pPr>
                <a:r>
                  <a:rPr lang="es-ES" i="1" dirty="0"/>
                  <a:t>Ejemplo 1:</a:t>
                </a:r>
                <a:r>
                  <a:rPr lang="es-ES" dirty="0"/>
                  <a:t> hay número en común.-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)=4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baseline="30000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 – 2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baseline="30000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 + 8</m:t>
                      </m:r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  <a:p>
                <a:pPr marL="0" indent="0">
                  <a:buNone/>
                </a:pPr>
                <a:r>
                  <a:rPr lang="es-ES" i="1" dirty="0"/>
                  <a:t>Ejemplo 2</a:t>
                </a:r>
                <a:r>
                  <a:rPr lang="es-ES" dirty="0"/>
                  <a:t>: hay variable en común.-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) = 2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baseline="30000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 – 5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baseline="30000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  <a:p>
                <a:pPr marL="0" indent="0">
                  <a:buNone/>
                </a:pPr>
                <a:r>
                  <a:rPr lang="es-ES" i="1" dirty="0"/>
                  <a:t>Observación: </a:t>
                </a:r>
                <a:r>
                  <a:rPr lang="es-ES" dirty="0"/>
                  <a:t>Debemos extraer la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ES" dirty="0"/>
                  <a:t> elevada a la menor de sus potencias.</a:t>
                </a:r>
              </a:p>
              <a:p>
                <a:pPr marL="0" indent="0">
                  <a:buNone/>
                </a:pPr>
                <a:r>
                  <a:rPr lang="es-ES" i="1" dirty="0"/>
                  <a:t>Ejemplo 3: </a:t>
                </a:r>
                <a:r>
                  <a:rPr lang="es-ES" dirty="0"/>
                  <a:t>hay número y variable en común.-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)= 6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 – 3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baseline="30000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 + 9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baseline="30000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s-ES" baseline="30000" dirty="0"/>
              </a:p>
              <a:p>
                <a:pPr marL="0" indent="0">
                  <a:buNone/>
                </a:pPr>
                <a:endParaRPr lang="es-ES" dirty="0"/>
              </a:p>
            </p:txBody>
          </p:sp>
        </mc:Choice>
        <mc:Fallback>
          <p:sp>
            <p:nvSpPr>
              <p:cNvPr id="8" name="Marcador de contenido 7">
                <a:extLst>
                  <a:ext uri="{FF2B5EF4-FFF2-40B4-BE49-F238E27FC236}">
                    <a16:creationId xmlns:a16="http://schemas.microsoft.com/office/drawing/2014/main" id="{B05B2124-91E3-4220-B9E0-4F1E3B9073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304925"/>
                <a:ext cx="8915400" cy="4606297"/>
              </a:xfrm>
              <a:blipFill>
                <a:blip r:embed="rId2"/>
                <a:stretch>
                  <a:fillRect l="-61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5350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148AF5-C3A7-4817-AA4B-18729417B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Factor Común por Grupos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F4CE540-E89E-42DE-8E82-AE38410DF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17737" y="1264554"/>
                <a:ext cx="8911687" cy="469809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s-ES" dirty="0"/>
              </a:p>
              <a:p>
                <a:r>
                  <a:rPr lang="es-ES" dirty="0"/>
                  <a:t>El polinomio debe tener 4,6,8,… términos para poder separarlo en grupos</a:t>
                </a:r>
              </a:p>
              <a:p>
                <a:endParaRPr lang="es-ES" dirty="0"/>
              </a:p>
              <a:p>
                <a:r>
                  <a:rPr lang="es-ES" dirty="0"/>
                  <a:t>El método es similar al anterior: es como separar el polinomio en dos y luego sacar factor común en cada una de esas partes.</a:t>
                </a:r>
                <a:endParaRPr lang="es-AR" dirty="0"/>
              </a:p>
              <a:p>
                <a:r>
                  <a:rPr lang="es-AR" dirty="0"/>
                  <a:t>Se busca que lo que “quede dentro del paréntesis” en cada una de las partes, sea lo mismo, para luego unir esas dos partes que quedaban del polinomio, mediante otro factor.</a:t>
                </a:r>
              </a:p>
              <a:p>
                <a:pPr marL="0" indent="0">
                  <a:buNone/>
                </a:pPr>
                <a:r>
                  <a:rPr lang="es-AR" i="1" dirty="0"/>
                  <a:t>Ejemplo: </a:t>
                </a:r>
                <a14:m>
                  <m:oMath xmlns:m="http://schemas.openxmlformats.org/officeDocument/2006/math">
                    <m:r>
                      <a:rPr lang="es-AR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A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AR" i="1" dirty="0" smtClean="0">
                        <a:latin typeface="Cambria Math" panose="02040503050406030204" pitchFamily="18" charset="0"/>
                      </a:rPr>
                      <m:t>) = 6</m:t>
                    </m:r>
                    <m:r>
                      <a:rPr lang="es-A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AR" i="1" baseline="30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s-AR" i="1" dirty="0" smtClean="0">
                        <a:latin typeface="Cambria Math" panose="02040503050406030204" pitchFamily="18" charset="0"/>
                      </a:rPr>
                      <m:t> – 9</m:t>
                    </m:r>
                    <m:r>
                      <a:rPr lang="es-A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AR" i="1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AR" i="1" dirty="0" smtClean="0">
                        <a:latin typeface="Cambria Math" panose="02040503050406030204" pitchFamily="18" charset="0"/>
                      </a:rPr>
                      <m:t> + 4</m:t>
                    </m:r>
                    <m:r>
                      <a:rPr lang="es-AR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AR" i="1" dirty="0" smtClean="0">
                        <a:latin typeface="Cambria Math" panose="02040503050406030204" pitchFamily="18" charset="0"/>
                      </a:rPr>
                      <m:t> −6</m:t>
                    </m:r>
                  </m:oMath>
                </a14:m>
                <a:endParaRPr lang="es-AR" dirty="0"/>
              </a:p>
              <a:p>
                <a:pPr marL="0" indent="0">
                  <a:buNone/>
                </a:pPr>
                <a:endParaRPr lang="es-ES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F4CE540-E89E-42DE-8E82-AE38410DF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17737" y="1264554"/>
                <a:ext cx="8911687" cy="4698095"/>
              </a:xfrm>
              <a:blipFill>
                <a:blip r:embed="rId2"/>
                <a:stretch>
                  <a:fillRect l="-61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FB7EE3C-4483-4370-BD80-0D628808D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214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DAE1A-1FB2-435A-B239-7FC721675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740417"/>
            <a:ext cx="8911687" cy="1280890"/>
          </a:xfrm>
        </p:spPr>
        <p:txBody>
          <a:bodyPr/>
          <a:lstStyle/>
          <a:p>
            <a:r>
              <a:rPr lang="es-ES" dirty="0"/>
              <a:t>Diferencia de Cuadrados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B39C5AD-4730-4665-A729-921F88519B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ES" dirty="0"/>
                  <a:t>El polinomio debe tener solo dos términos y cada uno de ellos debe ser el cuadrado de “algo”, separados con el signo negativo.</a:t>
                </a:r>
              </a:p>
              <a:p>
                <a:r>
                  <a:rPr lang="es-ES" dirty="0"/>
                  <a:t>Debemos tener en cuenta la fórmula: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ES" i="1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–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" i="1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E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ES" i="1" dirty="0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s-E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  <a:p>
                <a:pPr marL="0" indent="0">
                  <a:buNone/>
                </a:pPr>
                <a:r>
                  <a:rPr lang="es-ES" i="1" dirty="0"/>
                  <a:t>Ejemplo 1: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– 4</m:t>
                    </m:r>
                  </m:oMath>
                </a14:m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  <a:p>
                <a:pPr marL="0" indent="0">
                  <a:buNone/>
                </a:pPr>
                <a:r>
                  <a:rPr lang="es-ES" i="1" dirty="0"/>
                  <a:t>Ejemplo 2: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 = 9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baseline="30000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 − 1</m:t>
                    </m:r>
                  </m:oMath>
                </a14:m>
                <a:endParaRPr lang="es-AR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B39C5AD-4730-4665-A729-921F88519B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6" t="-80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B335B46-D6CF-4FB4-A0FD-09EDC63AF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219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228A4-FE52-49D2-BE4D-97E088EA9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Trinomio Cuadrado Perfecto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0BB0573-C035-4D5E-BF75-0175B1950D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657350"/>
                <a:ext cx="8915400" cy="4253872"/>
              </a:xfrm>
            </p:spPr>
            <p:txBody>
              <a:bodyPr/>
              <a:lstStyle/>
              <a:p>
                <a:r>
                  <a:rPr lang="es-ES" dirty="0"/>
                  <a:t>Debemos tener en cuenta la fórmula: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ES" i="1" dirty="0" smtClean="0">
                          <a:latin typeface="Cambria Math" panose="02040503050406030204" pitchFamily="18" charset="0"/>
                        </a:rPr>
                        <m:t>)2 = 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 + 2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s-ES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ES" i="1" baseline="30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s-ES" baseline="30000" dirty="0"/>
              </a:p>
              <a:p>
                <a:pPr marL="0" indent="0">
                  <a:buNone/>
                </a:pPr>
                <a:endParaRPr lang="es-ES" dirty="0"/>
              </a:p>
              <a:p>
                <a:r>
                  <a:rPr lang="es-AR" dirty="0"/>
                  <a:t>Para poder utilizar este método, debemos tener un polinomio de tres términos y asegurarnos que es equivalente a un binomio elevado al cuadrado.</a:t>
                </a:r>
              </a:p>
              <a:p>
                <a:pPr marL="0" indent="0">
                  <a:buNone/>
                </a:pPr>
                <a:r>
                  <a:rPr lang="es-AR" i="1" dirty="0"/>
                  <a:t>Ejemplo: P(x) = 9x</a:t>
                </a:r>
                <a:r>
                  <a:rPr lang="es-AR" i="1" baseline="30000" dirty="0"/>
                  <a:t>2</a:t>
                </a:r>
                <a:r>
                  <a:rPr lang="es-AR" i="1" dirty="0"/>
                  <a:t> + 30x + 25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C0BB0573-C035-4D5E-BF75-0175B1950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657350"/>
                <a:ext cx="8915400" cy="4253872"/>
              </a:xfrm>
              <a:blipFill>
                <a:blip r:embed="rId2"/>
                <a:stretch>
                  <a:fillRect l="-616" t="-86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4647F3B-F1E6-4E69-88FC-E15AA379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098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43BD45-D410-46ED-B6F4-7FAA3D1E0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¿Cómo los implemento?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5B4ED9D-53C0-4675-ADB2-94F6C36928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1524000"/>
                <a:ext cx="8915400" cy="4387222"/>
              </a:xfrm>
            </p:spPr>
            <p:txBody>
              <a:bodyPr/>
              <a:lstStyle/>
              <a:p>
                <a:endParaRPr lang="es-ES" dirty="0"/>
              </a:p>
              <a:p>
                <a:r>
                  <a:rPr lang="es-ES" dirty="0"/>
                  <a:t>El enunciado del ejercicio no dirá el método que debemos usar, si no que debemos probar con los métodos que dimos.</a:t>
                </a:r>
              </a:p>
              <a:p>
                <a:r>
                  <a:rPr lang="es-ES" dirty="0"/>
                  <a:t>Para factorizar un polinomio, podemos usar y combinar diferentes métodos.</a:t>
                </a:r>
              </a:p>
              <a:p>
                <a:pPr marL="0" indent="0">
                  <a:buNone/>
                </a:pPr>
                <a:r>
                  <a:rPr lang="es-ES" i="1" dirty="0"/>
                  <a:t>Ejemplo: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i="1" dirty="0" smtClean="0">
                        <a:latin typeface="Cambria Math" panose="02040503050406030204" pitchFamily="18" charset="0"/>
                      </a:rPr>
                      <m:t>)=9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baseline="30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+18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b="0" i="1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−8</m:t>
                    </m:r>
                  </m:oMath>
                </a14:m>
                <a:endParaRPr lang="es-AR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5B4ED9D-53C0-4675-ADB2-94F6C36928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1524000"/>
                <a:ext cx="8915400" cy="4387222"/>
              </a:xfrm>
              <a:blipFill>
                <a:blip r:embed="rId2"/>
                <a:stretch>
                  <a:fillRect l="-61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C0D9D87-6F01-4993-8C64-63112238F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663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D59F5-6C7B-4FEC-B488-20AD613D2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Hay más casos de </a:t>
            </a:r>
            <a:r>
              <a:rPr lang="es-ES" dirty="0" err="1"/>
              <a:t>factoreo</a:t>
            </a:r>
            <a:r>
              <a:rPr lang="es-ES" dirty="0"/>
              <a:t>…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8A3239-F140-4693-BC18-DE7BCCAFE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Existen otras maneras de factorizar: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s-ES" dirty="0" err="1"/>
              <a:t>Cuatrinomio</a:t>
            </a:r>
            <a:r>
              <a:rPr lang="es-ES" dirty="0"/>
              <a:t> cubo perfecto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s-ES" dirty="0"/>
              <a:t>Suma o resta de factores de igual exponente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s-ES" dirty="0"/>
              <a:t>Método de Gauss</a:t>
            </a:r>
          </a:p>
          <a:p>
            <a:pPr>
              <a:buFont typeface="Courier New" panose="02070309020205020404" pitchFamily="49" charset="0"/>
              <a:buChar char="o"/>
            </a:pPr>
            <a:endParaRPr lang="es-ES" dirty="0"/>
          </a:p>
          <a:p>
            <a:r>
              <a:rPr lang="es-ES" dirty="0"/>
              <a:t>Sin embargo, en este curso tendremos en cuenta </a:t>
            </a:r>
            <a:r>
              <a:rPr lang="es-ES" b="1" dirty="0"/>
              <a:t>sólo los 4 métodos </a:t>
            </a:r>
            <a:r>
              <a:rPr lang="es-ES" dirty="0"/>
              <a:t>que aparecen en el material y estudiamos hoy.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AR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B3DEB72-DDCF-4E6E-B664-05685379A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Matemática 0. Facultad de Informática. U.N.L.P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555756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298</TotalTime>
  <Words>698</Words>
  <Application>Microsoft Office PowerPoint</Application>
  <PresentationFormat>Panorámica</PresentationFormat>
  <Paragraphs>81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 Math</vt:lpstr>
      <vt:lpstr>Century Gothic</vt:lpstr>
      <vt:lpstr>Courier New</vt:lpstr>
      <vt:lpstr>Wingdings 3</vt:lpstr>
      <vt:lpstr>Espiral</vt:lpstr>
      <vt:lpstr>CAPÍTULO 3:  Factorización</vt:lpstr>
      <vt:lpstr>¿Qué es un factorizar?</vt:lpstr>
      <vt:lpstr>Factor Común</vt:lpstr>
      <vt:lpstr>Factor Común por Grupos</vt:lpstr>
      <vt:lpstr>Diferencia de Cuadrados</vt:lpstr>
      <vt:lpstr>Trinomio Cuadrado Perfecto</vt:lpstr>
      <vt:lpstr>¿Cómo los implemento?</vt:lpstr>
      <vt:lpstr>Hay más casos de factoreo…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3:  Expresiones Algebraicas</dc:title>
  <dc:creator>Maria Mercedes Olea</dc:creator>
  <cp:lastModifiedBy>María Mercedes Olea</cp:lastModifiedBy>
  <cp:revision>38</cp:revision>
  <dcterms:created xsi:type="dcterms:W3CDTF">2021-01-28T00:31:04Z</dcterms:created>
  <dcterms:modified xsi:type="dcterms:W3CDTF">2021-02-11T21:40:29Z</dcterms:modified>
</cp:coreProperties>
</file>